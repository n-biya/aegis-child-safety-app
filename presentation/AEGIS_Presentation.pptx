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7" r:id="rId18"/>
    <p:sldId id="288" r:id="rId19"/>
    <p:sldId id="289" r:id="rId20"/>
    <p:sldId id="290" r:id="rId21"/>
    <p:sldId id="291" r:id="rId22"/>
    <p:sldId id="292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93" r:id="rId31"/>
    <p:sldId id="294" r:id="rId32"/>
    <p:sldId id="295" r:id="rId33"/>
    <p:sldId id="299" r:id="rId34"/>
    <p:sldId id="300" r:id="rId35"/>
    <p:sldId id="301" r:id="rId36"/>
    <p:sldId id="279" r:id="rId37"/>
    <p:sldId id="310" r:id="rId38"/>
    <p:sldId id="302" r:id="rId39"/>
    <p:sldId id="308" r:id="rId40"/>
    <p:sldId id="307" r:id="rId41"/>
    <p:sldId id="303" r:id="rId42"/>
    <p:sldId id="304" r:id="rId43"/>
    <p:sldId id="305" r:id="rId44"/>
    <p:sldId id="306" r:id="rId45"/>
    <p:sldId id="311" r:id="rId46"/>
    <p:sldId id="280" r:id="rId47"/>
    <p:sldId id="282" r:id="rId48"/>
    <p:sldId id="309" r:id="rId49"/>
    <p:sldId id="284" r:id="rId50"/>
    <p:sldId id="285" r:id="rId51"/>
    <p:sldId id="28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21762-2986-483F-A18C-F7AF38226FE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4F51E-26A6-4AD6-B391-A25DE593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6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4F51E-26A6-4AD6-B391-A25DE5930C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1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08500" y="1587500"/>
            <a:ext cx="3175000" cy="3175000"/>
          </a:xfrm>
          <a:prstGeom prst="ellipse">
            <a:avLst/>
          </a:prstGeom>
          <a:noFill/>
          <a:ln w="17780">
            <a:solidFill>
              <a:srgbClr val="AD90D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92500" y="571500"/>
            <a:ext cx="5207000" cy="5207000"/>
          </a:xfrm>
          <a:prstGeom prst="ellipse">
            <a:avLst/>
          </a:prstGeom>
          <a:noFill/>
          <a:ln w="17780">
            <a:solidFill>
              <a:srgbClr val="AD90D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413000" y="-508000"/>
            <a:ext cx="7366000" cy="7366000"/>
          </a:xfrm>
          <a:prstGeom prst="ellipse">
            <a:avLst/>
          </a:prstGeom>
          <a:noFill/>
          <a:ln w="17780">
            <a:solidFill>
              <a:srgbClr val="AD90DF">
                <a:alpha val="7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06500" y="-1714500"/>
            <a:ext cx="9779000" cy="9779000"/>
          </a:xfrm>
          <a:prstGeom prst="ellipse">
            <a:avLst/>
          </a:prstGeom>
          <a:noFill/>
          <a:ln w="17780">
            <a:solidFill>
              <a:srgbClr val="AD90DF">
                <a:alpha val="4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0520000">
            <a:off x="2540000" y="1778000"/>
            <a:ext cx="7112000" cy="2794000"/>
          </a:xfrm>
          <a:prstGeom prst="ellipse">
            <a:avLst/>
          </a:prstGeom>
          <a:noFill/>
          <a:ln w="20320">
            <a:solidFill>
              <a:srgbClr val="7C3AED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679700" y="2616200"/>
            <a:ext cx="101600" cy="101600"/>
          </a:xfrm>
          <a:prstGeom prst="ellipse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74200" y="3759200"/>
            <a:ext cx="101600" cy="101600"/>
          </a:xfrm>
          <a:prstGeom prst="ellipse">
            <a:avLst/>
          </a:prstGeom>
          <a:solidFill>
            <a:srgbClr val="AD90D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152" y="1689728"/>
            <a:ext cx="855696" cy="7876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8350" y="2579585"/>
            <a:ext cx="30353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400" dirty="0">
                <a:solidFill>
                  <a:srgbClr val="7C3AED"/>
                </a:solidFill>
                <a:latin typeface="Inter"/>
              </a:rPr>
              <a:t>FINAL YEAR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100" y="2859426"/>
            <a:ext cx="27178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800" b="1" spc="-200" dirty="0">
                <a:solidFill>
                  <a:srgbClr val="6D44C9"/>
                </a:solidFill>
                <a:latin typeface="Sora"/>
              </a:rPr>
              <a:t>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5966" y="4008453"/>
            <a:ext cx="81915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dirty="0">
                <a:solidFill>
                  <a:srgbClr val="2D1A4A"/>
                </a:solidFill>
                <a:latin typeface="Sora"/>
              </a:rPr>
              <a:t>Adaptive Edge-Intelligence Guardian and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390" y="4521200"/>
            <a:ext cx="7620000" cy="733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A smart child-safety wearable with on-device stress detection, GPS geofencing and instant SMS alerts.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5651500"/>
            <a:ext cx="10668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5791200"/>
            <a:ext cx="18042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160" dirty="0">
                <a:solidFill>
                  <a:srgbClr val="7C3AED"/>
                </a:solidFill>
                <a:latin typeface="Inter"/>
              </a:rPr>
              <a:t>PRESENTED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07100"/>
            <a:ext cx="3467100" cy="630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b="1" dirty="0">
                <a:solidFill>
                  <a:srgbClr val="2D1A4A"/>
                </a:solidFill>
                <a:latin typeface="Sora"/>
              </a:rPr>
              <a:t>Barira Sarfraz</a:t>
            </a:r>
            <a:r>
              <a:rPr b="1" dirty="0">
                <a:solidFill>
                  <a:srgbClr val="9E86C0"/>
                </a:solidFill>
                <a:latin typeface="Sora"/>
              </a:rPr>
              <a:t>  222201042</a:t>
            </a:r>
          </a:p>
          <a:p>
            <a:pPr algn="l">
              <a:spcBef>
                <a:spcPts val="600"/>
              </a:spcBef>
            </a:pPr>
            <a:r>
              <a:rPr b="1" dirty="0">
                <a:solidFill>
                  <a:srgbClr val="2D1A4A"/>
                </a:solidFill>
                <a:latin typeface="Sora"/>
              </a:rPr>
              <a:t>Nabeeha Zahid</a:t>
            </a:r>
            <a:r>
              <a:rPr b="1" dirty="0">
                <a:solidFill>
                  <a:srgbClr val="9E86C0"/>
                </a:solidFill>
                <a:latin typeface="Sora"/>
              </a:rPr>
              <a:t>  222201009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5771718"/>
            <a:ext cx="171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160" dirty="0">
                <a:solidFill>
                  <a:srgbClr val="7C3AED"/>
                </a:solidFill>
                <a:latin typeface="Inter"/>
              </a:rPr>
              <a:t>SUPERVISED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7201" y="5987618"/>
            <a:ext cx="212965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900" b="1" dirty="0">
                <a:solidFill>
                  <a:srgbClr val="2D1A4A"/>
                </a:solidFill>
                <a:latin typeface="Sora"/>
              </a:rPr>
              <a:t>Dr. Altaf Hussain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6283" y="5791200"/>
            <a:ext cx="236957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160" dirty="0">
                <a:solidFill>
                  <a:srgbClr val="7C3AED"/>
                </a:solidFill>
                <a:latin typeface="Inter"/>
              </a:rPr>
              <a:t>DEPARTMENT &amp;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6007100"/>
            <a:ext cx="3810000" cy="630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600"/>
              </a:spcBef>
            </a:pPr>
            <a:r>
              <a:rPr b="1" dirty="0">
                <a:solidFill>
                  <a:srgbClr val="2D1A4A"/>
                </a:solidFill>
                <a:latin typeface="Sora"/>
              </a:rPr>
              <a:t>Dept. of Computer Science</a:t>
            </a:r>
          </a:p>
          <a:p>
            <a:pPr algn="r">
              <a:spcBef>
                <a:spcPts val="600"/>
              </a:spcBef>
            </a:pPr>
            <a:r>
              <a:rPr b="1" dirty="0">
                <a:solidFill>
                  <a:srgbClr val="2D1A4A"/>
                </a:solidFill>
                <a:latin typeface="Sora"/>
              </a:rPr>
              <a:t>KICSIT Campus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88D27E-DCE1-049C-4BF3-1B1C6FDB2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683" y="350608"/>
            <a:ext cx="10006067" cy="1113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OUTLINE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 dirty="0">
                <a:solidFill>
                  <a:srgbClr val="2D1A4A"/>
                </a:solidFill>
                <a:latin typeface="Sora"/>
              </a:rPr>
              <a:t>Agenda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0066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900" y="19939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Introduction &amp; 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900" y="22352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 dirty="0">
                <a:solidFill>
                  <a:srgbClr val="6E5494"/>
                </a:solidFill>
                <a:latin typeface="Inter"/>
              </a:rPr>
              <a:t>The problem and why AEGIS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0734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900" y="30607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Objectives, Scope &amp;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1900" y="33020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Goals and how we built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402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1900" y="41275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Literature &amp;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900" y="43688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Prior work and where AEGIS stands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2070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1900" y="51943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Solution &amp;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1900" y="54356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Our system, functional &amp; non-functional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20066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2900" y="19939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System Design &amp; Diagrams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2900" y="22352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Architecture, hardware, UML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000" y="30734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2900" y="30607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Dataset, ML Model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33020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WESAD, Random Forest,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41402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2900" y="4127500"/>
            <a:ext cx="47371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Testing &amp; Mobile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2900" y="43688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Test cases and the parent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3000" y="52070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2900" y="5194300"/>
            <a:ext cx="47371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Contribution, Limitations &amp; 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2900" y="5435600"/>
            <a:ext cx="4737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Team, future work,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Introduction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952500"/>
            <a:ext cx="7239000" cy="1197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Every year, parents of young children face the same fear: a child who wanders off, panics in a crowd, or faces a medical scare cannot always say so in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1905000"/>
            <a:ext cx="7239000" cy="12700"/>
          </a:xfrm>
          <a:prstGeom prst="rect">
            <a:avLst/>
          </a:prstGeom>
          <a:solidFill>
            <a:srgbClr val="EC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0181" y="603250"/>
            <a:ext cx="723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 dirty="0">
                <a:solidFill>
                  <a:srgbClr val="6D44C9"/>
                </a:solidFill>
                <a:latin typeface="Sora"/>
              </a:rPr>
              <a:t>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0" y="2300285"/>
            <a:ext cx="7239000" cy="156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Existing child trackers only report GPS location and depend on a constant internet connection. They cannot sense distress, they go silent where there is no signal, and they say nothing about how the child actually feels.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4161595"/>
            <a:ext cx="723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 dirty="0">
                <a:solidFill>
                  <a:srgbClr val="6D44C9"/>
                </a:solidFill>
                <a:latin typeface="Sora"/>
              </a:rPr>
              <a:t>Our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8000" y="4491795"/>
            <a:ext cx="7239000" cy="156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AEGIS is a wearable band for children aged 4-12 that reads physiological signals in real time, detects stress or danger on the device itself, tracks location, and alerts parents over SMS - working even with no internet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 dirty="0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225800" cy="1026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200" b="1" spc="-100" dirty="0">
                <a:solidFill>
                  <a:srgbClr val="2D1A4A"/>
                </a:solidFill>
                <a:latin typeface="Sora"/>
              </a:rPr>
              <a:t>Objectives</a:t>
            </a:r>
          </a:p>
          <a:p>
            <a:pPr>
              <a:lnSpc>
                <a:spcPct val="106000"/>
              </a:lnSpc>
            </a:pPr>
            <a:r>
              <a:rPr sz="3200" b="1" spc="-100" dirty="0">
                <a:solidFill>
                  <a:srgbClr val="6D44C9"/>
                </a:solidFill>
                <a:latin typeface="Sora"/>
              </a:rPr>
              <a:t>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56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What AEGIS sets out to achieve, and the boundaries we set for this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dirty="0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9271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Sense distress, not just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200785"/>
            <a:ext cx="681990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Read heart rate, SpO2, skin response and temperature on the wrist.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19812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685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Decide on the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242185"/>
            <a:ext cx="681990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Run the stress model on the ESP32 so alerts work without the cloud.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30226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099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Alert reliably anywhere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283585"/>
            <a:ext cx="681990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Send SMS over GSM so parents are reached even with no internet.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0" y="40640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0513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Keep every child personal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324985"/>
            <a:ext cx="6819900" cy="32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Calibrate a 7-day baseline so detection fits the individual child.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000" y="51054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0927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Stay private and free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366385"/>
            <a:ext cx="6819900" cy="32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Restrict data per parent and build only on free-tier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 dirty="0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Methodology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56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An incremental, hardware-independent build so progress never stalls on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9271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Design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200785"/>
            <a:ext cx="6819900" cy="32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Architecture, data model and UML defined before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19431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304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App &amp; backend in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204085"/>
            <a:ext cx="6819900" cy="32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Flutter screens built with dummy data, then wired to Firebase.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29464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9337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Model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207385"/>
            <a:ext cx="6819900" cy="325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Random Forest trained and validated on the WESAD dataset.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0" y="39497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9370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Firmware as pure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210685"/>
            <a:ext cx="6819900" cy="704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Z-score, sliding-window and geofence written and unit-tested off-device.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000" y="49530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940300"/>
            <a:ext cx="6819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Integrate &amp;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213985"/>
            <a:ext cx="6819900" cy="704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Bring hardware, model, app and alerts together for end-to-end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Literature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199"/>
            <a:ext cx="5270500" cy="19072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Wearable stress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4914900" cy="145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The WESAD dataset (Schmidt et al., 2018) established wrist physiological signals - HR, EDA, temperature, motion - as reliable cues for stress versus calm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981200"/>
            <a:ext cx="5270500" cy="19072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7800" y="2133600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On-device / edge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0" y="2374900"/>
            <a:ext cx="4914900" cy="145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Research on TinyML shows compact models such as Random Forests can run on microcontrollers, enabling decisions without a network round-trip.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070958"/>
            <a:ext cx="5270500" cy="19996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9800" y="4223358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Child-tracking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4464658"/>
            <a:ext cx="4914900" cy="145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Commercial trackers focus on GPS and calling; studies note their dependence on connectivity and the absence of any physiological awareness.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4070958"/>
            <a:ext cx="5270500" cy="20250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7800" y="4223358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Physiological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4464658"/>
            <a:ext cx="4914900" cy="145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Galvanic skin response and heart-rate variability are well-documented markers of acute stress, motivating multi-sensor fusion over location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WHERE WE 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AEGIS vs Existing Wearables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2000" y="1943100"/>
          <a:ext cx="10668000" cy="4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Capability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AEGIS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GPS Tracker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Kids' Smartwatch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Live GPS location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Physiological / stress sensing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86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On-device (edge) decisions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On-device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8612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8612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Works with no internet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Offline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SMS alert fallback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86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Geofencing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86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Backend cost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6F"/>
                          </a:solidFill>
                          <a:latin typeface="Inter"/>
                        </a:rPr>
                        <a:t>Free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Paid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82F49"/>
                          </a:solidFill>
                          <a:latin typeface="Inter"/>
                        </a:rPr>
                        <a:t>Paid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199"/>
            <a:ext cx="5270500" cy="17257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01  Wearable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4914900" cy="108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ESP32 reads the sensors, runs the model, calibrates, and decides - the brain of the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981199"/>
            <a:ext cx="5270500" cy="17257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7800" y="2133600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02  Edge ML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0" y="2374900"/>
            <a:ext cx="4914900" cy="108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A Random Forest trained on WESAD, flashed to the band, classifying stress entirely on-device.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146758"/>
            <a:ext cx="5270500" cy="15809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9800" y="4299158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03  Parent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4540458"/>
            <a:ext cx="4914900" cy="108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A Flutter app that visualises vitals, location, alerts and analytics - it never makes decisions.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4146758"/>
            <a:ext cx="5270500" cy="15809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7800" y="4299158"/>
            <a:ext cx="4914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04  Firebase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4540458"/>
            <a:ext cx="49149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Free-tier Firestore, Auth and Cloud Messaging for storage, sync and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Functional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92710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 dirty="0">
                <a:solidFill>
                  <a:srgbClr val="2D1A4A"/>
                </a:solidFill>
                <a:latin typeface="Sora"/>
              </a:rPr>
              <a:t>Accounts &amp;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119380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Firebase Auth login; multiple children.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2750" y="9398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0" y="92710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Live Vitals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0" y="119380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Real-time HR, SpO2, GSR and temperature.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230505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229235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Location &amp; Geofence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0" y="255905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Live GPS and safe-zone on OpenStreetMap.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2750" y="230505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0" y="229235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Safe-Zone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0" y="255905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Set the geofence centre and radius.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8000" y="36703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500" y="365760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Alert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0" y="392430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Stress, breach and SpO2 alerts, logged.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2750" y="367030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0" y="365760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Push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0" y="392430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Instant alerts via Firebase Cloud Messaging.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8000" y="503555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0" y="502285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Health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0" y="528955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7-day vitals trends and stress charts.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2750" y="5035550"/>
            <a:ext cx="368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0" y="5022850"/>
            <a:ext cx="3206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spc="-50">
                <a:solidFill>
                  <a:srgbClr val="2D1A4A"/>
                </a:solidFill>
                <a:latin typeface="Sora"/>
              </a:rPr>
              <a:t>Calibration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0" y="5289550"/>
            <a:ext cx="3206750" cy="685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7-day baseline before alerts activate.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Non-Functional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10</a:t>
            </a:r>
          </a:p>
        </p:txBody>
      </p:sp>
      <p:sp>
        <p:nvSpPr>
          <p:cNvPr id="19" name="Oval 18"/>
          <p:cNvSpPr/>
          <p:nvPr/>
        </p:nvSpPr>
        <p:spPr>
          <a:xfrm>
            <a:off x="4318000" y="9906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3900" y="9271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 dirty="0">
                <a:solidFill>
                  <a:srgbClr val="2D1A4A"/>
                </a:solidFill>
                <a:latin typeface="Sora"/>
              </a:rP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1219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Alerts must fire even offline - SMS over GSM, cached then synced.</a:t>
            </a:r>
          </a:p>
        </p:txBody>
      </p:sp>
      <p:sp>
        <p:nvSpPr>
          <p:cNvPr id="22" name="Oval 21"/>
          <p:cNvSpPr/>
          <p:nvPr/>
        </p:nvSpPr>
        <p:spPr>
          <a:xfrm>
            <a:off x="8032750" y="9906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8650" y="9271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Security &amp;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8650" y="1219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Firestore rules restrict each parent to their own children's data.</a:t>
            </a:r>
          </a:p>
        </p:txBody>
      </p:sp>
      <p:sp>
        <p:nvSpPr>
          <p:cNvPr id="25" name="Oval 24"/>
          <p:cNvSpPr/>
          <p:nvPr/>
        </p:nvSpPr>
        <p:spPr>
          <a:xfrm>
            <a:off x="4318000" y="27559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33900" y="26924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900" y="29845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A 10-second monitoring cycle with real-time updates in the app.</a:t>
            </a:r>
          </a:p>
        </p:txBody>
      </p:sp>
      <p:sp>
        <p:nvSpPr>
          <p:cNvPr id="28" name="Oval 27"/>
          <p:cNvSpPr/>
          <p:nvPr/>
        </p:nvSpPr>
        <p:spPr>
          <a:xfrm>
            <a:off x="8032750" y="27559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8650" y="26924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Power Efficiency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8650" y="2984500"/>
            <a:ext cx="34290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Duty-cycled sensing to extend battery life on a small LiPo cell.</a:t>
            </a:r>
          </a:p>
        </p:txBody>
      </p:sp>
      <p:sp>
        <p:nvSpPr>
          <p:cNvPr id="31" name="Oval 30"/>
          <p:cNvSpPr/>
          <p:nvPr/>
        </p:nvSpPr>
        <p:spPr>
          <a:xfrm>
            <a:off x="4318000" y="45212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33900" y="44577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47498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The 7-day calibration is communicated clearly to parents.</a:t>
            </a:r>
          </a:p>
        </p:txBody>
      </p:sp>
      <p:sp>
        <p:nvSpPr>
          <p:cNvPr id="34" name="Oval 33"/>
          <p:cNvSpPr/>
          <p:nvPr/>
        </p:nvSpPr>
        <p:spPr>
          <a:xfrm>
            <a:off x="8032750" y="45212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8650" y="4457700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Affordability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8650" y="4749800"/>
            <a:ext cx="34290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Built entirely on free-tier services - zero paid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Tools &amp;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199"/>
            <a:ext cx="3365500" cy="200086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Wearable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3009900" cy="145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ESP32 · MAX30102 · MPU6050 · GSR · DS18B20 · NEO-6M GPS · SIM800L GSM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9750" y="1981199"/>
            <a:ext cx="3365500" cy="200086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7550" y="2133600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550" y="2374900"/>
            <a:ext cx="3009900" cy="108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Python · scikit-learn · Random Forest · WESAD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37500" y="1981199"/>
            <a:ext cx="3365500" cy="200086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5300" y="2133600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5300" y="2374900"/>
            <a:ext cx="30099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Flutter · Dart · Provider · fl_chart · flutter_map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256957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9800" y="4409357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Backend (free tier)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00" y="4650657"/>
            <a:ext cx="3009900" cy="108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Firebase Auth · Cloud </a:t>
            </a:r>
            <a:r>
              <a:rPr b="0" dirty="0" err="1">
                <a:solidFill>
                  <a:srgbClr val="6E5494"/>
                </a:solidFill>
                <a:latin typeface="Inter"/>
              </a:rPr>
              <a:t>Firestore</a:t>
            </a:r>
            <a:r>
              <a:rPr b="0" dirty="0">
                <a:solidFill>
                  <a:srgbClr val="6E5494"/>
                </a:solidFill>
                <a:latin typeface="Inter"/>
              </a:rPr>
              <a:t> · Cloud Messaging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9750" y="4256957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7550" y="4409357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Maps &amp; Comms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7550" y="4650657"/>
            <a:ext cx="30099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OpenStreetMap · WiFi · BLE · GSM/SMS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7500" y="4256957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5300" y="4409357"/>
            <a:ext cx="30099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spc="-50">
                <a:solidFill>
                  <a:srgbClr val="2D1A4A"/>
                </a:solidFill>
                <a:latin typeface="Sora"/>
              </a:rPr>
              <a:t>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5300" y="4650657"/>
            <a:ext cx="300990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GitHub · GitHub Actions CI · PlatformIO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System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2B263B-6344-1088-1207-D4B18EBBF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929" y="244475"/>
            <a:ext cx="6656571" cy="6022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System Workflow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Data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D75B39-2658-6F4D-8FB0-D3080ABAC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341" y="0"/>
            <a:ext cx="9222659" cy="67902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Hardware Block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Circuit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14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C45320-5A1F-8202-D3C9-4FAA7F986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064" y="-26219"/>
            <a:ext cx="82029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Use Case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5400" y="28067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5400" y="2895600"/>
            <a:ext cx="584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4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6000" y="5715000"/>
            <a:ext cx="1143000" cy="2540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6000" y="5765800"/>
            <a:ext cx="1143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6211EB-826D-C274-AABB-99F3C70C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900" y="-38100"/>
            <a:ext cx="5426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Descriptive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Use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149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1200" y="1117600"/>
            <a:ext cx="571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UC-01  Register &amp; Add Child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6000" y="1104900"/>
            <a:ext cx="1473200" cy="2794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6000" y="1168400"/>
            <a:ext cx="1473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80">
                <a:solidFill>
                  <a:srgbClr val="7C3AED"/>
                </a:solidFill>
                <a:latin typeface="Inter"/>
              </a:rPr>
              <a:t>Actor · Parent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200" y="1498600"/>
            <a:ext cx="6858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parent signs up, creates their account and adds a child profile with a paired device.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8000" y="2679700"/>
            <a:ext cx="7239000" cy="149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1200" y="2844800"/>
            <a:ext cx="571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UC-02  Configure Safe Zone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6000" y="2832100"/>
            <a:ext cx="1473200" cy="2794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6000" y="2895600"/>
            <a:ext cx="1473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80">
                <a:solidFill>
                  <a:srgbClr val="7C3AED"/>
                </a:solidFill>
                <a:latin typeface="Inter"/>
              </a:rPr>
              <a:t>Actor · Parent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200" y="3225800"/>
            <a:ext cx="6858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From the map the parent sets a geofence centre and radius that the band will monitor.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8000" y="4406900"/>
            <a:ext cx="7239000" cy="149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1200" y="4572000"/>
            <a:ext cx="571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UC-03  Receive Breach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6000" y="4559300"/>
            <a:ext cx="1473200" cy="2794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06000" y="4622800"/>
            <a:ext cx="1473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80">
                <a:solidFill>
                  <a:srgbClr val="7C3AED"/>
                </a:solidFill>
                <a:latin typeface="Inter"/>
              </a:rPr>
              <a:t>Actor · Wearable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200" y="4953000"/>
            <a:ext cx="6858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On leaving the safe zone the band vibrates, sends an SMS and logs an alert the app shows.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View Real-Time Vitals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905000"/>
          <a:ext cx="10668000" cy="3066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Parent logs into the app.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authenticates the credentials and grants access.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Parent selects the child profile.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retrieves the data for the selected child's band.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vitals dashboard.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fetches the latest HR, SpO2, temperature and stress. 2. Displays them on the dashboard in real time.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01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View Real-Time Vitals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905000"/>
          <a:ext cx="10668000" cy="19485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Parent opens the app while offline.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System displays the last cached reading from the band.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1b. Connectivity is restored.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1b. System resumes the typical flow with live data.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83720"/>
              </p:ext>
            </p:extLst>
          </p:nvPr>
        </p:nvGraphicFramePr>
        <p:xfrm>
          <a:off x="762000" y="3925529"/>
          <a:ext cx="10668000" cy="1777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 dirty="0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Parent enters incorrect login credentials.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System prompts re-entry of credentials.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1d. Login fails three times.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 dirty="0">
                          <a:solidFill>
                            <a:srgbClr val="6E5494"/>
                          </a:solidFill>
                          <a:latin typeface="Inter"/>
                        </a:rPr>
                        <a:t>1d. System locks the account for five minutes.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3582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87712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 dirty="0">
                <a:solidFill>
                  <a:srgbClr val="2D1A4A"/>
                </a:solidFill>
                <a:latin typeface="Sora"/>
              </a:rPr>
              <a:t>Monitor Heart Rate &amp; SpO2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33732"/>
              </p:ext>
            </p:extLst>
          </p:nvPr>
        </p:nvGraphicFramePr>
        <p:xfrm>
          <a:off x="762000" y="1617815"/>
          <a:ext cx="10668000" cy="2239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1. MAX30102 reads pulse and oxygen data.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ESP32 computes heart rate and SpO2 values.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2. ESP32 compares readings to baseline thresholds.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System uploads the validated readings to the cloud.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app to check trends.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1. App fetches and displays HR and SpO2 history.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7626"/>
              </p:ext>
            </p:extLst>
          </p:nvPr>
        </p:nvGraphicFramePr>
        <p:xfrm>
          <a:off x="762000" y="3692421"/>
          <a:ext cx="10668000" cy="135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1a. Sensor noise is detected during reading.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1a. Band filters the signal with the onboard ML model, then resumes once clean.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36683"/>
              </p:ext>
            </p:extLst>
          </p:nvPr>
        </p:nvGraphicFramePr>
        <p:xfrm>
          <a:off x="762000" y="5091062"/>
          <a:ext cx="10668000" cy="135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2D1A4A"/>
                          </a:solidFill>
                          <a:latin typeface="Inter"/>
                        </a:rPr>
                        <a:t>1c. MAX30102 fails to respond.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1c. Band logs the sensor error and sends a fallback alert via GSM.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78502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 dirty="0">
                <a:solidFill>
                  <a:srgbClr val="7C3AED"/>
                </a:solidFill>
                <a:latin typeface="Inter"/>
              </a:rPr>
              <a:t>USE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719802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Monitor Body Temperature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2573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907307"/>
              </p:ext>
            </p:extLst>
          </p:nvPr>
        </p:nvGraphicFramePr>
        <p:xfrm>
          <a:off x="762000" y="1401506"/>
          <a:ext cx="10668000" cy="2239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2D1A4A"/>
                          </a:solidFill>
                          <a:latin typeface="Inter"/>
                        </a:rPr>
                        <a:t>1. MLX90614 reads the child's body temperature.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ESP32 compares the value to the configured threshold.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2. Reading is within the normal range.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System stores the reading in the cloud.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2D1A4A"/>
                          </a:solidFill>
                          <a:latin typeface="Inter"/>
                        </a:rPr>
                        <a:t>3. Parent views the temperature trend.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1. App displays the latest and historical temperature data.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81761"/>
              </p:ext>
            </p:extLst>
          </p:nvPr>
        </p:nvGraphicFramePr>
        <p:xfrm>
          <a:off x="762000" y="3672758"/>
          <a:ext cx="10668000" cy="135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1a. Ambient interference affects the reading.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1a. Band recalibrates the sensor and resumes with a corrected reading.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121139"/>
              </p:ext>
            </p:extLst>
          </p:nvPr>
        </p:nvGraphicFramePr>
        <p:xfrm>
          <a:off x="762000" y="5081232"/>
          <a:ext cx="10668000" cy="135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2D1A4A"/>
                          </a:solidFill>
                          <a:latin typeface="Inter"/>
                        </a:rPr>
                        <a:t>1c. Reading is out of range (&gt;50C or &lt;20C).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1c. System activates anomaly detection and triggers an alert.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17832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759132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 dirty="0">
                <a:solidFill>
                  <a:srgbClr val="2D1A4A"/>
                </a:solidFill>
                <a:latin typeface="Sora"/>
              </a:rPr>
              <a:t>Monitor Stress Level (GSR)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276966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660466"/>
              </p:ext>
            </p:extLst>
          </p:nvPr>
        </p:nvGraphicFramePr>
        <p:xfrm>
          <a:off x="762000" y="1411338"/>
          <a:ext cx="10668000" cy="2239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1. GSR sensor measures skin conductance.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ESP32 runs the on-device ML model to infer stress.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2. Stress level is classified.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System streams the classified data to the cloud.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app.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1. App displays the current and historical stress trend.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504935"/>
              </p:ext>
            </p:extLst>
          </p:nvPr>
        </p:nvGraphicFramePr>
        <p:xfrm>
          <a:off x="762000" y="3613763"/>
          <a:ext cx="10668000" cy="1248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1a. GSR signal is weak or unstable.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1a. System applies the child's baseline, then resumes.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02315"/>
              </p:ext>
            </p:extLst>
          </p:nvPr>
        </p:nvGraphicFramePr>
        <p:xfrm>
          <a:off x="762000" y="4894417"/>
          <a:ext cx="10668000" cy="135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1c. Stress remains persistently high.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1c. System triggers an alert without waiting for cloud confirmation.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8671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709971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 dirty="0">
                <a:solidFill>
                  <a:srgbClr val="2D1A4A"/>
                </a:solidFill>
                <a:latin typeface="Sora"/>
              </a:rPr>
              <a:t>View Live Location &amp;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198305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627787"/>
              </p:ext>
            </p:extLst>
          </p:nvPr>
        </p:nvGraphicFramePr>
        <p:xfrm>
          <a:off x="762000" y="1401507"/>
          <a:ext cx="10668000" cy="2239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1. Parent opens the location tab.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App requests the latest location from the cloud.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2D1A4A"/>
                          </a:solidFill>
                          <a:latin typeface="Inter"/>
                        </a:rPr>
                        <a:t>2. NEO-6M GPS provides coordinates.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6E5494"/>
                          </a:solidFill>
                          <a:latin typeface="Inter"/>
                        </a:rPr>
                        <a:t>1. ESP32 checks the coordinates against the geofence.</a:t>
                      </a:r>
                    </a:p>
                  </a:txBody>
                  <a:tcPr marL="127000" marR="101600" marT="63500" marB="63500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3. Band reports the verified position.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1. System uploads coordinates and updates the map view.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032356"/>
              </p:ext>
            </p:extLst>
          </p:nvPr>
        </p:nvGraphicFramePr>
        <p:xfrm>
          <a:off x="762000" y="3613764"/>
          <a:ext cx="10668000" cy="1248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1a. GPS signal is weak or unavailable.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1a. Band falls back to cell-tower location and resumes.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83761"/>
              </p:ext>
            </p:extLst>
          </p:nvPr>
        </p:nvGraphicFramePr>
        <p:xfrm>
          <a:off x="762000" y="4874751"/>
          <a:ext cx="10668000" cy="1248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1" dirty="0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2D1A4A"/>
                          </a:solidFill>
                          <a:latin typeface="Inter"/>
                        </a:rPr>
                        <a:t>1c. Location upload fails.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6E5494"/>
                          </a:solidFill>
                          <a:latin typeface="Inter"/>
                        </a:rPr>
                        <a:t>1c. System stores data locally and retries once reconnected.</a:t>
                      </a:r>
                    </a:p>
                  </a:txBody>
                  <a:tcPr marL="1270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Entity-Relationship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96C6486-53CA-A710-A71D-5BB9C6325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00" y="899221"/>
            <a:ext cx="8310273" cy="46379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Activity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18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063720C-8F4E-C61B-5852-71A525EEF6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6719"/>
            <a:ext cx="4157348" cy="68245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Class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4DEC49-F305-B5EB-1982-F189587A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59" y="913694"/>
            <a:ext cx="7643371" cy="49036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Sequence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581D8B3-FD4C-1A2D-3CDC-7B67118D3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1558"/>
            <a:ext cx="5016500" cy="67417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Dataset &amp;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ML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869382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2000" b="0" dirty="0">
                <a:solidFill>
                  <a:srgbClr val="6E5494"/>
                </a:solidFill>
                <a:latin typeface="Inter"/>
              </a:rPr>
              <a:t>The model is trained offline, then flashed to the band to run on-device.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52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000" y="124460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WESAD - 15 subjects, wrist physiological signals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18000" y="1828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18000" y="1968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8000" y="226060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Random Forest · 15 trees · max depth 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8000" y="2844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18000" y="2984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327660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Binary: NORMAL or STRESS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3860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18000" y="4000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429260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14 inputs - HR, HRV, RMSSD, EDA, temperature, motion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18000" y="4876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18000" y="5016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On-device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000" y="530860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Exported to a C header and run on the ESP32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ML Model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4806" y="186055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57206" y="2076450"/>
            <a:ext cx="2108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dirty="0">
                <a:solidFill>
                  <a:srgbClr val="7C3AED"/>
                </a:solidFill>
                <a:latin typeface="Sora"/>
              </a:rPr>
              <a:t>97.96%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7206" y="2609850"/>
            <a:ext cx="21082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0" dirty="0">
                <a:solidFill>
                  <a:srgbClr val="6E5494"/>
                </a:solidFill>
                <a:latin typeface="Inter"/>
              </a:rPr>
              <a:t>Training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8306" y="186055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706" y="2076450"/>
            <a:ext cx="2108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dirty="0">
                <a:solidFill>
                  <a:srgbClr val="7C3AED"/>
                </a:solidFill>
                <a:latin typeface="Sora"/>
              </a:rPr>
              <a:t>96.03%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706" y="2609850"/>
            <a:ext cx="21082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Cross-validation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1806" y="186055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4206" y="2076450"/>
            <a:ext cx="2108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7C3AED"/>
                </a:solidFill>
                <a:latin typeface="Sora"/>
              </a:rPr>
              <a:t>± 1.24%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4206" y="2609850"/>
            <a:ext cx="21082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CV std. deviation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2324" y="40343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71750" y="5969000"/>
            <a:ext cx="1143000" cy="2540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5000" y="3429000"/>
            <a:ext cx="5715000" cy="2984500"/>
          </a:xfrm>
          <a:prstGeom prst="roundRect">
            <a:avLst/>
          </a:prstGeom>
          <a:solidFill>
            <a:srgbClr val="FAF6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36703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Per-class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000500"/>
            <a:ext cx="5207000" cy="997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600" b="0" dirty="0">
                <a:solidFill>
                  <a:srgbClr val="6E5494"/>
                </a:solidFill>
                <a:latin typeface="Inter"/>
              </a:rPr>
              <a:t>Precision, recall and F1 (per NORMAL / STRESS class) are produced by the model test script and will be inserted here from its classification report.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D9DB31C-2044-9EFA-3732-E3AF282A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3321050"/>
            <a:ext cx="4001526" cy="34461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23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2000" y="1943100"/>
          <a:ext cx="10668000" cy="422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ID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Test Case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Layer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Type</a:t>
                      </a:r>
                    </a:p>
                  </a:txBody>
                  <a:tcPr marL="114300" marR="76200" marT="50800" marB="50800" anchor="ctr"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TC-APP-001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Parent account registration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Mobile App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TC-APP-002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D1A4A"/>
                          </a:solidFill>
                          <a:latin typeface="Inter"/>
                        </a:rPr>
                        <a:t>Define and persist a safe zone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Mobile App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TC-APP-003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Invalid login credential rejection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Mobile App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TC-FW-001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Baseline Z-score normalization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Firmware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Unit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TC-FW-002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Stress classification on feature vector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Firmware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Unit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TC-INT-001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End-to-end geofence breach alert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Black Box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TC-INT-002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Alert flag triggers FCM push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Black Box</a:t>
                      </a:r>
                    </a:p>
                  </a:txBody>
                  <a:tcPr marL="1143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TC-HW-002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GSM SMS fallback delivery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1A4A"/>
                          </a:solidFill>
                          <a:latin typeface="Inter"/>
                        </a:rPr>
                        <a:t>Hardware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D1A4A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marL="114300" marR="76200" marT="50800" marB="50800" anchor="ctr">
                    <a:solidFill>
                      <a:srgbClr val="F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 dirty="0">
                <a:solidFill>
                  <a:srgbClr val="7C3AED"/>
                </a:solidFill>
                <a:latin typeface="Inter"/>
              </a:rPr>
              <a:t>ML-EVAL-01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260191"/>
            <a:ext cx="41275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 dirty="0">
                <a:solidFill>
                  <a:srgbClr val="2D1A4A"/>
                </a:solidFill>
                <a:latin typeface="Sora"/>
              </a:rPr>
              <a:t>Model Classification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E3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spc="100" dirty="0">
                <a:solidFill>
                  <a:srgbClr val="1E7A4B"/>
                </a:solidFill>
                <a:latin typeface="Sora"/>
              </a:rPr>
              <a:t>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Evaluate the RF classifier on WESAD.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WESAD: 14 features, 15 subjects.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Accuracy at or above 90%.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97.96% train; 96.03% CV (+/-1.24%).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Accuracy &gt;= 90%, stable across folds.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260191"/>
            <a:ext cx="41275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>
                <a:solidFill>
                  <a:srgbClr val="2D1A4A"/>
                </a:solidFill>
                <a:latin typeface="Sora"/>
              </a:rPr>
              <a:t>Baseline Z-Score Normalization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Standardize a reading vs the baseline.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reading=80, mean=70, std=5.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Returns 2.0.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30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E5494"/>
                </a:solidFill>
                <a:latin typeface="Inter"/>
              </a:rPr>
              <a:t>Returns 2.0.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Z-score equals the computed value.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FC4A0256-2C95-17EE-76AB-421261101E33}"/>
              </a:ext>
            </a:extLst>
          </p:cNvPr>
          <p:cNvSpPr/>
          <p:nvPr/>
        </p:nvSpPr>
        <p:spPr>
          <a:xfrm>
            <a:off x="10210800" y="1979447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>
                <a:solidFill>
                  <a:srgbClr val="2D1A4A"/>
                </a:solidFill>
                <a:latin typeface="Sora"/>
              </a:rPr>
              <a:t>Stress Classification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Confirm the RF returns the expected label.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 STRESS vector, then a NORMAL vector.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Returns STRESS, then NORMAL.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30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E5494"/>
                </a:solidFill>
                <a:latin typeface="Inter"/>
              </a:rPr>
              <a:t>Returns STRESS, then NORMAL.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Labels match training annotations.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 dirty="0">
                <a:solidFill>
                  <a:srgbClr val="2D1A4A"/>
                </a:solidFill>
                <a:latin typeface="Sora"/>
              </a:rPr>
              <a:t>7-Day Calibration Window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Finish calibration only after 7 days.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7 days of mock HR/EDA/temp readings.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Classification enabled from day 8.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30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E5494"/>
                </a:solidFill>
                <a:latin typeface="Inter"/>
              </a:rPr>
              <a:t>Classification enabled from day 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Baseline finalized; gated to day 8.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1BB31285-E8E9-6EEC-A3D3-D440777F609D}"/>
              </a:ext>
            </a:extLst>
          </p:cNvPr>
          <p:cNvSpPr/>
          <p:nvPr/>
        </p:nvSpPr>
        <p:spPr>
          <a:xfrm>
            <a:off x="4709652" y="1988509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1A9F052D-1E2E-04E0-7D36-715A2EF9B1FF}"/>
              </a:ext>
            </a:extLst>
          </p:cNvPr>
          <p:cNvSpPr/>
          <p:nvPr/>
        </p:nvSpPr>
        <p:spPr>
          <a:xfrm>
            <a:off x="10147300" y="193344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TC-HW-001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309353"/>
            <a:ext cx="42545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 dirty="0">
                <a:solidFill>
                  <a:srgbClr val="2D1A4A"/>
                </a:solidFill>
                <a:latin typeface="Sora"/>
              </a:rPr>
              <a:t>Heart Rate Accuracy vs Oximeter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MAX30102 HR vs a clinical oximeter.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10 paired samples over 5 minutes.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Within +/- 5 bpm of reference.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30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E5494"/>
                </a:solidFill>
                <a:latin typeface="Inter"/>
              </a:rPr>
              <a:t>Within +/- 5 bpm of reference</a:t>
            </a:r>
            <a:r>
              <a:rPr sz="1800" b="0" dirty="0">
                <a:solidFill>
                  <a:srgbClr val="6E5494"/>
                </a:solidFill>
                <a:latin typeface="Int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Mean abs. difference &lt;= 5 bpm.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TC-HW-002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309353"/>
            <a:ext cx="4254500" cy="313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1" spc="-50">
                <a:solidFill>
                  <a:srgbClr val="2D1A4A"/>
                </a:solidFill>
                <a:latin typeface="Sora"/>
              </a:rPr>
              <a:t>SMS Fallback When WiFi Down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GSM SMS fallback when WiFi fails.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Stress alert with WiFi disabled.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 dirty="0">
                <a:solidFill>
                  <a:srgbClr val="6E5494"/>
                </a:solidFill>
                <a:latin typeface="Inter"/>
              </a:rPr>
              <a:t>SMS received within fallback window.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30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E5494"/>
                </a:solidFill>
                <a:latin typeface="Inter"/>
              </a:rPr>
              <a:t>SMS received within fallback window.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Logs 'SMS sent: OK'; SMS received.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22E49B95-27F4-3F0D-C426-F37FE37FE059}"/>
              </a:ext>
            </a:extLst>
          </p:cNvPr>
          <p:cNvSpPr/>
          <p:nvPr/>
        </p:nvSpPr>
        <p:spPr>
          <a:xfrm>
            <a:off x="4709652" y="1988509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B3273F5A-987D-9F0D-430E-F57D5B7F5CD0}"/>
              </a:ext>
            </a:extLst>
          </p:cNvPr>
          <p:cNvSpPr/>
          <p:nvPr/>
        </p:nvSpPr>
        <p:spPr>
          <a:xfrm>
            <a:off x="10214897" y="1982201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Parent Account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 dirty="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Register a parent via Firebase Auth.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Name, unique email, valid password.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created; onboarding opens.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created; session active; onboarding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in Firebase Auth; navigates.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294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19019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9456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Define and Persist a Safe Zone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292608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4553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Draw a safe zone; check it persists.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20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39896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55566"/>
                </a:solidFill>
                <a:latin typeface="Arial"/>
              </a:rPr>
              <a:t>Zone name, radius.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342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55566"/>
                </a:solidFill>
                <a:latin typeface="Arial"/>
              </a:rPr>
              <a:t>Zone reappears after restart.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0916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928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Zone persisted; reloads after restart.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0352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52297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Geofence saved in Firestore.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Invalid Login Rejection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Reject wrong credentials clearly.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Valid email, wrong password.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Error shown; no navigation.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Error shown; no session/token issued.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Stays on login; no token issued.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294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19019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TC-INT-001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9456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D1A4A"/>
                </a:solidFill>
                <a:latin typeface="Arial"/>
              </a:rPr>
              <a:t>End-to-End Geofence Breach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292608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4553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Breach: firmware through to app push.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20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3989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Mock GPS outside the safe zone.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342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Push arrives within sync interval.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0916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928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Breach detected; GEOFENCE alert raised.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0352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52297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Alert in Firestore; push delivered.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TC-INT-002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D1A4A"/>
                </a:solidFill>
                <a:latin typeface="Arial"/>
              </a:rPr>
              <a:t>Alert Flag Triggers FCM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55566"/>
                </a:solidFill>
                <a:latin typeface="Arial"/>
              </a:rPr>
              <a:t>Alert write triggers an FCM push.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Vitals record with alert = true.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Push received; sync unaffected.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Alert doc written; push-ready; sync unaffected.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Delivery log shows dispatch.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70017" y="3037701"/>
            <a:ext cx="445196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spc="-100" dirty="0">
                <a:solidFill>
                  <a:srgbClr val="2D1A4A"/>
                </a:solidFill>
                <a:latin typeface="Sora"/>
              </a:rPr>
              <a:t>Mobile App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499" y="3700621"/>
            <a:ext cx="10795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6E5494"/>
                </a:solidFill>
                <a:latin typeface="Inter"/>
              </a:rPr>
              <a:t>The parent app's real flow - from sign-in to live monitoring. Insert native captures into the frames.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0C133-B589-8389-672A-4E629C98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521C3A9-02AA-3CA5-603A-C174BEDCA68E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9976B2-38C0-8580-C5B5-D3B2D91C16C2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1F12FA-D6BF-DC2D-4985-58362BBF8D68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DC5B25-0001-E00E-EAB0-83237EF6BABE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BE32FC-5390-0534-5B92-54A729FCAB13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0A9C9-72F9-E780-3343-190ACD864D05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475261-36F0-F538-191B-091A7AD16241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057C21-277B-E402-74A9-2A08CB6851B5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45961-0EDB-E122-C086-6C691E6146AF}"/>
              </a:ext>
            </a:extLst>
          </p:cNvPr>
          <p:cNvSpPr txBox="1"/>
          <p:nvPr/>
        </p:nvSpPr>
        <p:spPr>
          <a:xfrm>
            <a:off x="728817" y="444500"/>
            <a:ext cx="3086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On Boarding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9BC79-7DE3-E137-E80D-6BA32A9CD707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C219FA-E1B2-68A5-D350-FF7C51CDFE40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FCD8A7-5D08-13E3-8A70-7386692A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9" b="6499"/>
          <a:stretch/>
        </p:blipFill>
        <p:spPr>
          <a:xfrm>
            <a:off x="5518828" y="109793"/>
            <a:ext cx="3186345" cy="6354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7921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E2675-35CD-1BDD-60A8-594C2E04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D824540-0D7B-5686-3DA1-8DA9ECF4AD19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E84C9B-8C83-E770-D253-6BB95E15F67F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89FBE2-90FA-5239-DE00-97FDF03C8607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9D8573-A2BA-6B73-E92A-467E69A2768D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AB009C-8AF3-58E9-0700-F62798A370B0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6B9BA9-E960-BEAB-206D-3D292795A3C4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B9A962-50C1-BE54-EF68-CF0D92754A55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978BFD-6E10-CF50-E661-2ECB3E06B4C5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1DC8B-0682-A993-17A5-157EE10F332B}"/>
              </a:ext>
            </a:extLst>
          </p:cNvPr>
          <p:cNvSpPr txBox="1"/>
          <p:nvPr/>
        </p:nvSpPr>
        <p:spPr>
          <a:xfrm>
            <a:off x="728817" y="444500"/>
            <a:ext cx="3086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Home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25BCC-D0C1-020F-2FB2-D25D5D275EE4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5297A-F7D7-DFF5-0EE2-EFBDC4675259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B536BE-C058-4AA4-1DC1-8964E2A5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6" b="3056"/>
          <a:stretch/>
        </p:blipFill>
        <p:spPr>
          <a:xfrm>
            <a:off x="3836614" y="-4508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ACAFD4-E32C-A273-1091-DBBF646EE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9" b="2709"/>
          <a:stretch/>
        </p:blipFill>
        <p:spPr>
          <a:xfrm>
            <a:off x="8160568" y="-4509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5382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489A-D6F3-2A32-5839-CE7C3BA7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8EEFDDB-9B87-C453-1E78-109608196423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4AF609-4447-9F9A-BAED-83C3D0D12B85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137808-BDB6-4FC6-3E81-E3241D5D2974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D73DB80-8F88-75B8-8870-99020423DCFD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4D550D-6B7C-8EF3-4A0B-AFFBCF2FF42F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652D19-F6F7-1AE0-A268-52B5C0B9DF68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7E72E1-13A1-9ED1-5B84-0E288A032D6D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6A8703-DDEC-2942-772B-6379ED18F980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F6AC1-99C7-3EB5-D680-981252893664}"/>
              </a:ext>
            </a:extLst>
          </p:cNvPr>
          <p:cNvSpPr txBox="1"/>
          <p:nvPr/>
        </p:nvSpPr>
        <p:spPr>
          <a:xfrm>
            <a:off x="728817" y="444500"/>
            <a:ext cx="3086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Map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609589-2530-C457-8EEC-9C359F5C396B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2D0555-D12D-17B4-8DF7-84893633181D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6245E6-759D-4402-4E57-3A10A8905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9" b="2977"/>
          <a:stretch>
            <a:fillRect/>
          </a:stretch>
        </p:blipFill>
        <p:spPr>
          <a:xfrm>
            <a:off x="5518828" y="109793"/>
            <a:ext cx="3186345" cy="6354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2755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0530F-95FE-D6A9-D381-9A953503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9ABB001-4F11-3BCA-7B54-5DD0875CA1E1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65471F-AD57-3C1B-C488-B1F512FA16CC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4868D0-E4BB-5E1C-F20B-B114F432D08E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A33DA5-705C-1265-9C87-C34FA7E22FA4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077CD9-C8BE-5561-3B50-9454E6DA6AAD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215F5E-3106-C3FE-6977-F26CB9235F74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61F2AE-159D-71E6-DB97-0BB0EDC1C44A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2EEFFE-7E9E-6595-6B8F-5D3B463ECAC1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315A9-5A93-2B7E-F436-85F4768B693C}"/>
              </a:ext>
            </a:extLst>
          </p:cNvPr>
          <p:cNvSpPr txBox="1"/>
          <p:nvPr/>
        </p:nvSpPr>
        <p:spPr>
          <a:xfrm>
            <a:off x="728817" y="444500"/>
            <a:ext cx="3086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Alerts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2C8FD-9840-619A-5FA1-80C7C344BE51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CBF479-7FF4-FA33-B369-B5033CA82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2" b="2539"/>
          <a:stretch>
            <a:fillRect/>
          </a:stretch>
        </p:blipFill>
        <p:spPr>
          <a:xfrm>
            <a:off x="8204562" y="0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B7B868-AC83-17ED-B219-FFA5DF6974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2" b="3022"/>
          <a:stretch/>
        </p:blipFill>
        <p:spPr>
          <a:xfrm>
            <a:off x="4205733" y="0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7974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671C1-C72D-2053-FFC7-E37AC47F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5F9AB58-5AC0-54AE-894C-8A2D2EDD76CD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36FA02-99AA-4F09-90C3-97536C622580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578400-5BE3-85A3-E4A5-04609A922C6B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645CF9-4231-D11A-E30F-685E7EF7D0F9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4D4222-0B71-02A1-B6D0-2F14B5E8CE9C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301C00-C8C6-0261-006F-434B9347CC67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2B3DB1-05D8-E6C5-836D-42537CCDDBDF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B47F4A-FBF9-B2DF-62C6-D5A0C9315CB2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120F8-E04A-CCE0-ADFA-E024AF2452DB}"/>
              </a:ext>
            </a:extLst>
          </p:cNvPr>
          <p:cNvSpPr txBox="1"/>
          <p:nvPr/>
        </p:nvSpPr>
        <p:spPr>
          <a:xfrm>
            <a:off x="728816" y="444500"/>
            <a:ext cx="353838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Trends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CCE292-5E61-2FD1-AD49-471D1CED2E00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9F74F-2CC4-9F04-A3FB-ABB81A9B6F50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F7DEFE-3056-1DA4-13F1-DA861C92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" b="3097"/>
          <a:stretch/>
        </p:blipFill>
        <p:spPr>
          <a:xfrm>
            <a:off x="4655906" y="-4508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4231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FD816-4084-E280-4EFB-02263381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4A88589-895C-895C-6A8F-F423F6E98D6F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5C0C36-D013-1B9B-DCE0-890DE423A757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1C6706-C4D0-0134-6DE5-673AF932BA7A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E863B0-CA9B-1E01-EB72-2E294E0D727F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B4D278-C234-2D2E-E4EE-EEC24BBC12E3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E363C9-1824-4712-9503-D93BAC995FCC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B93712-CE47-0724-A96F-4FDD40A61A9A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C52CC0-406B-71D7-0D89-569F287EBA4C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DB52A-5051-72B1-1A50-A19F3CC55F68}"/>
              </a:ext>
            </a:extLst>
          </p:cNvPr>
          <p:cNvSpPr txBox="1"/>
          <p:nvPr/>
        </p:nvSpPr>
        <p:spPr>
          <a:xfrm>
            <a:off x="728816" y="444500"/>
            <a:ext cx="353838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AI Chatbot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857B1-6BD3-10AC-6D54-7E2A09B60807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2A028-467C-40B5-057B-60A3E4FB6702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EF11E6-2A58-0CBF-C568-92BA3AF0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" b="3097"/>
          <a:stretch/>
        </p:blipFill>
        <p:spPr>
          <a:xfrm>
            <a:off x="4655906" y="-4508"/>
            <a:ext cx="3186345" cy="68625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024391-5DD1-04F8-43FC-F20AE15A305E}"/>
              </a:ext>
            </a:extLst>
          </p:cNvPr>
          <p:cNvSpPr/>
          <p:nvPr/>
        </p:nvSpPr>
        <p:spPr>
          <a:xfrm>
            <a:off x="3805084" y="4503174"/>
            <a:ext cx="4640416" cy="23548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8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5D3FC-72EF-3C8D-A16D-7DF28844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95A9914-3CB0-52EF-3331-B29E51A33342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2F9AA0-5984-11C9-5B21-A5F09908FE90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86C0B3-7498-16A5-6C56-15E54FDE38A1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2C7598-10A1-4760-32C0-4280AC60822D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CB4AD4-5665-EE9C-83C6-BD72FCFEF85D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6B4AC1-A75C-8AF4-30D1-78FF89C6A01C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4B33E6-A3E0-DE96-CAEC-97A4824553B1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2E3FB6-0529-BF3B-DE18-7D6F72217745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80601-A7A0-ED77-382F-316F17B8895A}"/>
              </a:ext>
            </a:extLst>
          </p:cNvPr>
          <p:cNvSpPr txBox="1"/>
          <p:nvPr/>
        </p:nvSpPr>
        <p:spPr>
          <a:xfrm>
            <a:off x="728816" y="444500"/>
            <a:ext cx="353838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Chatbot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E62AC-45BE-A64C-2984-FDDAE565BA4B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2F9B2-3BB3-08E0-ACB7-7BD88F70088E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6703F8-48BD-4D33-5076-ABC5E12D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" b="3097"/>
          <a:stretch/>
        </p:blipFill>
        <p:spPr>
          <a:xfrm>
            <a:off x="4762956" y="111737"/>
            <a:ext cx="2920088" cy="62890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37321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7BECC-52FC-A25C-54B3-2943FC09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23EA2C4-76E8-9105-8629-F9391612E6D1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1E05DF-EC93-2D2A-3C19-9E95929AFA34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94C976-602D-E643-B6F8-4B719AC00A1C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DF967F-7B39-5529-8ACE-986DBB5D08F1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99F46C-4867-DAD8-BF6F-3AE06E5F088A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382D1-C862-6E9E-C5B2-A0F84EFC111A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A010E-96DD-06AC-9451-4A87D4AE2BE5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77521C-7E66-B1AE-C445-70C93E885158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D8338-4052-2B30-F987-03E0074730E7}"/>
              </a:ext>
            </a:extLst>
          </p:cNvPr>
          <p:cNvSpPr txBox="1"/>
          <p:nvPr/>
        </p:nvSpPr>
        <p:spPr>
          <a:xfrm>
            <a:off x="728816" y="444500"/>
            <a:ext cx="353838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Chatbot Screen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3EEBE-4F86-18C6-A8A5-4AF82205868E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B83DF-AC29-282C-E6D1-7E2864DDF0D2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F2D871-C9BD-3DFA-806D-DB39272F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" b="3097"/>
          <a:stretch/>
        </p:blipFill>
        <p:spPr>
          <a:xfrm>
            <a:off x="4762956" y="111737"/>
            <a:ext cx="2920088" cy="62890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8531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58E27-3A6C-F21E-BA6C-EE5656A7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3EF1CAE-84A2-20D1-C021-D82DFC68BAC2}"/>
              </a:ext>
            </a:extLst>
          </p:cNvPr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A6FD25-0E3C-A982-B0B7-39B824888F4E}"/>
              </a:ext>
            </a:extLst>
          </p:cNvPr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B2A378-C8FC-4A7E-6CA9-3DC5AD7BA6A0}"/>
              </a:ext>
            </a:extLst>
          </p:cNvPr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D93DDF-D75A-6E72-2DCB-9EC6E4767394}"/>
              </a:ext>
            </a:extLst>
          </p:cNvPr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EC3024-AF48-1256-4FBA-7CEB8E09D128}"/>
              </a:ext>
            </a:extLst>
          </p:cNvPr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2A13A8-057A-1618-CB6A-3FD1C39350E7}"/>
              </a:ext>
            </a:extLst>
          </p:cNvPr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B80ED8-E3F2-13B7-48D8-5600FB4C3FFF}"/>
              </a:ext>
            </a:extLst>
          </p:cNvPr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560674-86EF-5A35-5315-8F7F552E7C70}"/>
              </a:ext>
            </a:extLst>
          </p:cNvPr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F4614F-822A-0D17-D1B2-1134F8467B5B}"/>
              </a:ext>
            </a:extLst>
          </p:cNvPr>
          <p:cNvSpPr txBox="1"/>
          <p:nvPr/>
        </p:nvSpPr>
        <p:spPr>
          <a:xfrm>
            <a:off x="728817" y="444500"/>
            <a:ext cx="3086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spc="-100" dirty="0">
                <a:solidFill>
                  <a:srgbClr val="2D1A4A"/>
                </a:solidFill>
                <a:latin typeface="Sora"/>
              </a:rPr>
              <a:t>Hardware</a:t>
            </a:r>
            <a:endParaRPr sz="3600" b="1" spc="-100" dirty="0">
              <a:solidFill>
                <a:srgbClr val="2D1A4A"/>
              </a:solidFill>
              <a:latin typeface="S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4B4A9-6ECA-EAD5-6C3F-1F0B42F5210A}"/>
              </a:ext>
            </a:extLst>
          </p:cNvPr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7BA10-D3A1-4599-D5E4-D500509555F4}"/>
              </a:ext>
            </a:extLst>
          </p:cNvPr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AA7B0C-57FE-7DA7-22C4-30C94D0D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65393" y="-359040"/>
            <a:ext cx="4423214" cy="786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874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CREDITS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Team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A shared build - refine the exact split to match your own division of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8000" y="952500"/>
            <a:ext cx="346075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1193800"/>
            <a:ext cx="406400" cy="374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0" y="1244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Barira Sarfraz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5367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9E86C0"/>
                </a:solidFill>
                <a:latin typeface="Inter"/>
              </a:rPr>
              <a:t>222201042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33900" y="1955800"/>
            <a:ext cx="302895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52950" y="22415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62500" y="22098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Flutter app screens &amp; UI</a:t>
            </a:r>
          </a:p>
        </p:txBody>
      </p:sp>
      <p:sp>
        <p:nvSpPr>
          <p:cNvPr id="27" name="Oval 26"/>
          <p:cNvSpPr/>
          <p:nvPr/>
        </p:nvSpPr>
        <p:spPr>
          <a:xfrm>
            <a:off x="4552950" y="29273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62500" y="28956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Firebase integration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552950" y="36131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62500" y="35814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App–backend data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2750" y="952500"/>
            <a:ext cx="346075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1193800"/>
            <a:ext cx="406400" cy="374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43950" y="1244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Nabeeha Zahid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3950" y="15367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9E86C0"/>
                </a:solidFill>
                <a:latin typeface="Inter"/>
              </a:rPr>
              <a:t>222201009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48650" y="1955800"/>
            <a:ext cx="302895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267700" y="22415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7250" y="22098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ML model &amp; WESAD pipeline</a:t>
            </a:r>
          </a:p>
        </p:txBody>
      </p:sp>
      <p:sp>
        <p:nvSpPr>
          <p:cNvPr id="38" name="Oval 37"/>
          <p:cNvSpPr/>
          <p:nvPr/>
        </p:nvSpPr>
        <p:spPr>
          <a:xfrm>
            <a:off x="8267700" y="29273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77250" y="28956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Firmware logic &amp; geofencing</a:t>
            </a:r>
          </a:p>
        </p:txBody>
      </p:sp>
      <p:sp>
        <p:nvSpPr>
          <p:cNvPr id="40" name="Oval 39"/>
          <p:cNvSpPr/>
          <p:nvPr/>
        </p:nvSpPr>
        <p:spPr>
          <a:xfrm>
            <a:off x="8267700" y="36131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77250" y="3581400"/>
            <a:ext cx="279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Documentation &amp; testing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HONESTY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Limitations &amp;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Future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1296629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 dirty="0">
                <a:solidFill>
                  <a:srgbClr val="6D44C9"/>
                </a:solidFill>
                <a:latin typeface="Sora"/>
              </a:rPr>
              <a:t>Where we are today</a:t>
            </a:r>
          </a:p>
        </p:txBody>
      </p:sp>
      <p:sp>
        <p:nvSpPr>
          <p:cNvPr id="20" name="Oval 19"/>
          <p:cNvSpPr/>
          <p:nvPr/>
        </p:nvSpPr>
        <p:spPr>
          <a:xfrm>
            <a:off x="4298336" y="2185425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3900" y="1996361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 dirty="0">
                <a:solidFill>
                  <a:srgbClr val="6E5494"/>
                </a:solidFill>
                <a:latin typeface="Inter"/>
              </a:rPr>
              <a:t>Hardware is at dev-kit prototype stage</a:t>
            </a:r>
          </a:p>
        </p:txBody>
      </p:sp>
      <p:sp>
        <p:nvSpPr>
          <p:cNvPr id="24" name="Oval 23"/>
          <p:cNvSpPr/>
          <p:nvPr/>
        </p:nvSpPr>
        <p:spPr>
          <a:xfrm>
            <a:off x="4298336" y="2940869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3900" y="2781307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 dirty="0">
                <a:solidFill>
                  <a:srgbClr val="6E5494"/>
                </a:solidFill>
                <a:latin typeface="Inter"/>
              </a:rPr>
              <a:t>The model classifies stress as binary only</a:t>
            </a:r>
          </a:p>
        </p:txBody>
      </p:sp>
      <p:sp>
        <p:nvSpPr>
          <p:cNvPr id="26" name="Oval 25"/>
          <p:cNvSpPr/>
          <p:nvPr/>
        </p:nvSpPr>
        <p:spPr>
          <a:xfrm>
            <a:off x="4298336" y="3677469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3900" y="3517907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Battery life is not yet 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4500" y="1296629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Where we are headed</a:t>
            </a:r>
          </a:p>
        </p:txBody>
      </p:sp>
      <p:sp>
        <p:nvSpPr>
          <p:cNvPr id="29" name="Oval 28"/>
          <p:cNvSpPr/>
          <p:nvPr/>
        </p:nvSpPr>
        <p:spPr>
          <a:xfrm>
            <a:off x="8054668" y="2185425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0400" y="1996361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 dirty="0">
                <a:solidFill>
                  <a:srgbClr val="6E5494"/>
                </a:solidFill>
                <a:latin typeface="Inter"/>
              </a:rPr>
              <a:t>Full sensor and band integration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064500" y="2902361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0400" y="2732961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 dirty="0">
                <a:solidFill>
                  <a:srgbClr val="6E5494"/>
                </a:solidFill>
                <a:latin typeface="Inter"/>
              </a:rPr>
              <a:t>BLE pairing and power optimization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054668" y="3658625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80400" y="3469561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More affect classes beyond stress</a:t>
            </a:r>
          </a:p>
        </p:txBody>
      </p:sp>
      <p:sp>
        <p:nvSpPr>
          <p:cNvPr id="35" name="Oval 34"/>
          <p:cNvSpPr/>
          <p:nvPr/>
        </p:nvSpPr>
        <p:spPr>
          <a:xfrm>
            <a:off x="8054668" y="4395225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80400" y="4206161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real-world pilot with families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502934D-DB2D-EACD-B7F0-79A1BCCF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1" r="1761"/>
          <a:stretch>
            <a:fillRect/>
          </a:stretch>
        </p:blipFill>
        <p:spPr>
          <a:xfrm>
            <a:off x="1524" y="-133174"/>
            <a:ext cx="12190476" cy="699117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6764746-2670-7570-6509-57D5F776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4"/>
            <a:ext cx="12192000" cy="684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76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ang="121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 dirty="0">
                <a:solidFill>
                  <a:srgbClr val="7C3AED"/>
                </a:solidFill>
                <a:latin typeface="Inter"/>
              </a:rPr>
              <a:t>CLOSING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Conclusion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1016000"/>
            <a:ext cx="7239000" cy="161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AEGIS reimagines child safety as more than a dot on a map. By sensing distress on the wrist, deciding on the device, and reaching parents even without internet, it turns a tracker into a true guardian.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2400300"/>
            <a:ext cx="7239000" cy="12700"/>
          </a:xfrm>
          <a:prstGeom prst="rect">
            <a:avLst/>
          </a:prstGeom>
          <a:solidFill>
            <a:srgbClr val="EC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8000" y="2942303"/>
            <a:ext cx="34607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 dirty="0">
                <a:solidFill>
                  <a:srgbClr val="2D1A4A"/>
                </a:solidFill>
                <a:latin typeface="Sora"/>
              </a:rPr>
              <a:t>Edge-first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0" y="3234403"/>
            <a:ext cx="346075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 dirty="0">
                <a:solidFill>
                  <a:srgbClr val="6E5494"/>
                </a:solidFill>
                <a:latin typeface="Inter"/>
              </a:rPr>
              <a:t>Decisions happen on the band, not the cloud.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2750" y="2942303"/>
            <a:ext cx="34607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Always reachable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750" y="3234403"/>
            <a:ext cx="346075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SMS over GSM means alerts arrive offline.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4402803"/>
            <a:ext cx="34607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Personal &amp; private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4694903"/>
            <a:ext cx="346075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Per-child calibration, per-parent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2750" y="4402803"/>
            <a:ext cx="34607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Built for zero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2750" y="4694903"/>
            <a:ext cx="3460750" cy="70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b="0">
                <a:solidFill>
                  <a:srgbClr val="6E5494"/>
                </a:solidFill>
                <a:latin typeface="Inter"/>
              </a:rPr>
              <a:t>A complete system on free-tier services.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79500"/>
            <a:ext cx="952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875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006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0066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Schmidt, P. et al. (2018). Introducing WESAD, a Multimodal Dataset for Wearable Stress and Affect Detection. ACM ICMI.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2006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066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Breiman, L. (2001). Random Forests. Machine Learning, 45(1), 5-32.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0734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30734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Pedregosa, F. et al. (2011). Scikit-learn: Machine Learning in Python. JMLR 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30734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734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Flutter Documentation. Google. flutter.dev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40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400" y="41402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Firebase Documentation (Authentication, Cloud Firestore, Cloud Messaging). Google. firebase.google.com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140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402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OpenStreetMap Contributors. openstreetmap.org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5207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" y="52070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Espressif Systems. ESP32 Technical Reference Manual.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0" y="5207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207000"/>
            <a:ext cx="49911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fl_chart &amp; flutter_map - Flutter community packages. pub.dev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08500" y="1587500"/>
            <a:ext cx="3175000" cy="3175000"/>
          </a:xfrm>
          <a:prstGeom prst="ellipse">
            <a:avLst/>
          </a:prstGeom>
          <a:noFill/>
          <a:ln w="17780">
            <a:solidFill>
              <a:srgbClr val="AD90D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92500" y="571500"/>
            <a:ext cx="5207000" cy="5207000"/>
          </a:xfrm>
          <a:prstGeom prst="ellipse">
            <a:avLst/>
          </a:prstGeom>
          <a:noFill/>
          <a:ln w="17780">
            <a:solidFill>
              <a:srgbClr val="AD90D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413000" y="-508000"/>
            <a:ext cx="7366000" cy="7366000"/>
          </a:xfrm>
          <a:prstGeom prst="ellipse">
            <a:avLst/>
          </a:prstGeom>
          <a:noFill/>
          <a:ln w="17780">
            <a:solidFill>
              <a:srgbClr val="AD90DF">
                <a:alpha val="7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06500" y="-1714500"/>
            <a:ext cx="9779000" cy="9779000"/>
          </a:xfrm>
          <a:prstGeom prst="ellipse">
            <a:avLst/>
          </a:prstGeom>
          <a:noFill/>
          <a:ln w="17780">
            <a:solidFill>
              <a:srgbClr val="AD90DF">
                <a:alpha val="4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0520000">
            <a:off x="2540000" y="1778000"/>
            <a:ext cx="7112000" cy="2794000"/>
          </a:xfrm>
          <a:prstGeom prst="ellipse">
            <a:avLst/>
          </a:prstGeom>
          <a:noFill/>
          <a:ln w="20320">
            <a:solidFill>
              <a:srgbClr val="7C3AED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679700" y="2616200"/>
            <a:ext cx="101600" cy="101600"/>
          </a:xfrm>
          <a:prstGeom prst="ellipse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74200" y="3759200"/>
            <a:ext cx="101600" cy="101600"/>
          </a:xfrm>
          <a:prstGeom prst="ellipse">
            <a:avLst/>
          </a:prstGeom>
          <a:solidFill>
            <a:srgbClr val="AD90D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019300"/>
            <a:ext cx="1016000" cy="935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99271" y="3200601"/>
            <a:ext cx="4193458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spc="-200" dirty="0">
                <a:solidFill>
                  <a:srgbClr val="6D44C9"/>
                </a:solidFill>
                <a:latin typeface="Sor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1886" y="4038600"/>
            <a:ext cx="3175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dirty="0">
                <a:solidFill>
                  <a:srgbClr val="6E5494"/>
                </a:solidFill>
                <a:latin typeface="Inter"/>
              </a:rPr>
              <a:t>Questions &amp; Discussion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1000" y="4597400"/>
            <a:ext cx="3810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99209" y="4860189"/>
            <a:ext cx="61849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dirty="0">
                <a:solidFill>
                  <a:srgbClr val="9E86C0"/>
                </a:solidFill>
                <a:latin typeface="Inter"/>
              </a:rPr>
              <a:t>AEGIS · 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101" y="5197046"/>
            <a:ext cx="596121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dirty="0">
                <a:solidFill>
                  <a:srgbClr val="9E86C0"/>
                </a:solidFill>
                <a:latin typeface="Inter"/>
              </a:rPr>
              <a:t>Barira Sarfraz · Nabeeha Zahid    |    Supervisor: Dr. Altaf Hussain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3233</Words>
  <Application>Microsoft Office PowerPoint</Application>
  <PresentationFormat>Widescreen</PresentationFormat>
  <Paragraphs>748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</vt:lpstr>
      <vt:lpstr>Arial</vt:lpstr>
      <vt:lpstr>Calibri</vt:lpstr>
      <vt:lpstr>Inter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nabeeha zahid</cp:lastModifiedBy>
  <cp:revision>10</cp:revision>
  <dcterms:created xsi:type="dcterms:W3CDTF">2013-01-27T09:14:16Z</dcterms:created>
  <dcterms:modified xsi:type="dcterms:W3CDTF">2026-07-01T06:43:44Z</dcterms:modified>
  <cp:category/>
</cp:coreProperties>
</file>