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08500" y="1587500"/>
            <a:ext cx="3175000" cy="3175000"/>
          </a:xfrm>
          <a:prstGeom prst="ellipse">
            <a:avLst/>
          </a:prstGeom>
          <a:noFill/>
          <a:ln w="17780">
            <a:solidFill>
              <a:srgbClr val="AD90DF">
                <a:alpha val="2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92500" y="571500"/>
            <a:ext cx="5207000" cy="5207000"/>
          </a:xfrm>
          <a:prstGeom prst="ellipse">
            <a:avLst/>
          </a:prstGeom>
          <a:noFill/>
          <a:ln w="17780">
            <a:solidFill>
              <a:srgbClr val="AD90DF">
                <a:alpha val="1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13000" y="-508000"/>
            <a:ext cx="7366000" cy="7366000"/>
          </a:xfrm>
          <a:prstGeom prst="ellipse">
            <a:avLst/>
          </a:prstGeom>
          <a:noFill/>
          <a:ln w="17780">
            <a:solidFill>
              <a:srgbClr val="AD90D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06500" y="-1714500"/>
            <a:ext cx="9779000" cy="9779000"/>
          </a:xfrm>
          <a:prstGeom prst="ellipse">
            <a:avLst/>
          </a:prstGeom>
          <a:noFill/>
          <a:ln w="17780">
            <a:solidFill>
              <a:srgbClr val="AD90D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20520000">
            <a:off x="2540000" y="1778000"/>
            <a:ext cx="7112000" cy="2794000"/>
          </a:xfrm>
          <a:prstGeom prst="ellipse">
            <a:avLst/>
          </a:prstGeom>
          <a:noFill/>
          <a:ln w="20320">
            <a:solidFill>
              <a:srgbClr val="7C3AED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673350" y="2609850"/>
            <a:ext cx="114300" cy="114300"/>
          </a:xfrm>
          <a:prstGeom prst="ellipse">
            <a:avLst/>
          </a:prstGeom>
          <a:solidFill>
            <a:srgbClr val="7C3AED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67850" y="3752850"/>
            <a:ext cx="114300" cy="114300"/>
          </a:xfrm>
          <a:prstGeom prst="ellipse">
            <a:avLst/>
          </a:prstGeom>
          <a:solidFill>
            <a:srgbClr val="AD90DF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45000" y="355600"/>
            <a:ext cx="3302000" cy="609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C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st-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400" y="469900"/>
            <a:ext cx="3337034" cy="381000"/>
          </a:xfrm>
          <a:prstGeom prst="rect">
            <a:avLst/>
          </a:prstGeom>
        </p:spPr>
      </p:pic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0" y="1905000"/>
            <a:ext cx="1168400" cy="107545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86000" y="3124200"/>
            <a:ext cx="7620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spc="400">
                <a:solidFill>
                  <a:srgbClr val="7C3AED"/>
                </a:solidFill>
                <a:latin typeface="Inter"/>
              </a:rPr>
              <a:t>FINAL YEAR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429000"/>
            <a:ext cx="7620000" cy="120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0" b="1" spc="-300">
                <a:solidFill>
                  <a:srgbClr val="6D44C9"/>
                </a:solidFill>
                <a:latin typeface="Sora"/>
              </a:rPr>
              <a:t>AEGIS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000" y="4711700"/>
            <a:ext cx="11176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>
                <a:solidFill>
                  <a:srgbClr val="2D1A4A"/>
                </a:solidFill>
                <a:latin typeface="Sora"/>
              </a:rPr>
              <a:t>Adaptive Edge-Intelligence Guardian and Safety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8500" y="5092700"/>
            <a:ext cx="8255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2100" b="0">
                <a:solidFill>
                  <a:srgbClr val="6E5494"/>
                </a:solidFill>
                <a:latin typeface="Inter"/>
              </a:rPr>
              <a:t>On-device stress detection, GPS geofencing and instant SMS alerts.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2000" y="5880100"/>
            <a:ext cx="1066800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62000" y="6032500"/>
            <a:ext cx="3810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spc="160">
                <a:solidFill>
                  <a:srgbClr val="7C3AED"/>
                </a:solidFill>
                <a:latin typeface="Inter"/>
              </a:rPr>
              <a:t>PRESENTED BY</a:t>
            </a:r>
          </a:p>
          <a:p>
            <a:pPr algn="l">
              <a:spcBef>
                <a:spcPts val="700"/>
              </a:spcBef>
            </a:pPr>
            <a:r>
              <a:rPr sz="2000" b="1">
                <a:solidFill>
                  <a:srgbClr val="2D1A4A"/>
                </a:solidFill>
                <a:latin typeface="Sora"/>
              </a:rPr>
              <a:t>Barira Sarfraz</a:t>
            </a:r>
            <a:r>
              <a:rPr sz="2000" b="1">
                <a:solidFill>
                  <a:srgbClr val="9E86C0"/>
                </a:solidFill>
                <a:latin typeface="Sora"/>
              </a:rPr>
              <a:t>  222201042</a:t>
            </a:r>
          </a:p>
          <a:p>
            <a:pPr algn="l">
              <a:spcBef>
                <a:spcPts val="700"/>
              </a:spcBef>
            </a:pPr>
            <a:r>
              <a:rPr sz="2000" b="1">
                <a:solidFill>
                  <a:srgbClr val="2D1A4A"/>
                </a:solidFill>
                <a:latin typeface="Sora"/>
              </a:rPr>
              <a:t>Nabeeha Zahid</a:t>
            </a:r>
            <a:r>
              <a:rPr sz="2000" b="1">
                <a:solidFill>
                  <a:srgbClr val="9E86C0"/>
                </a:solidFill>
                <a:latin typeface="Sora"/>
              </a:rPr>
              <a:t>  222201009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032500"/>
            <a:ext cx="304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spc="160">
                <a:solidFill>
                  <a:srgbClr val="7C3AED"/>
                </a:solidFill>
                <a:latin typeface="Inter"/>
              </a:rPr>
              <a:t>SUPERVISED BY</a:t>
            </a:r>
          </a:p>
          <a:p>
            <a:pPr algn="ctr">
              <a:spcBef>
                <a:spcPts val="700"/>
              </a:spcBef>
            </a:pPr>
            <a:r>
              <a:rPr sz="2000" b="1">
                <a:solidFill>
                  <a:srgbClr val="2D1A4A"/>
                </a:solidFill>
                <a:latin typeface="Sora"/>
              </a:rPr>
              <a:t>Dr. Altaf Hussain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0" y="6032500"/>
            <a:ext cx="3810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spc="160">
                <a:solidFill>
                  <a:srgbClr val="7C3AED"/>
                </a:solidFill>
                <a:latin typeface="Inter"/>
              </a:rPr>
              <a:t>DEPARTMENT &amp; DATE</a:t>
            </a:r>
          </a:p>
          <a:p>
            <a:pPr algn="r">
              <a:spcBef>
                <a:spcPts val="700"/>
              </a:spcBef>
            </a:pPr>
            <a:r>
              <a:rPr sz="2000" b="1">
                <a:solidFill>
                  <a:srgbClr val="2D1A4A"/>
                </a:solidFill>
                <a:latin typeface="Sora"/>
              </a:rPr>
              <a:t>Dept. of Computer Science</a:t>
            </a:r>
          </a:p>
          <a:p>
            <a:pPr algn="r">
              <a:spcBef>
                <a:spcPts val="700"/>
              </a:spcBef>
            </a:pPr>
            <a:r>
              <a:rPr sz="2000" b="1">
                <a:solidFill>
                  <a:srgbClr val="2D1A4A"/>
                </a:solidFill>
                <a:latin typeface="Sora"/>
              </a:rPr>
              <a:t>KICSIT Campus ·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30500" y="3619500"/>
            <a:ext cx="2413000" cy="2413000"/>
          </a:xfrm>
          <a:prstGeom prst="ellipse">
            <a:avLst/>
          </a:prstGeom>
          <a:noFill/>
          <a:ln w="17780">
            <a:solidFill>
              <a:srgbClr val="AD90DF">
                <a:alpha val="2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778000" y="2667000"/>
            <a:ext cx="4318000" cy="4318000"/>
          </a:xfrm>
          <a:prstGeom prst="ellipse">
            <a:avLst/>
          </a:prstGeom>
          <a:noFill/>
          <a:ln w="17780">
            <a:solidFill>
              <a:srgbClr val="AD90D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2000" y="1651000"/>
            <a:ext cx="6350000" cy="6350000"/>
          </a:xfrm>
          <a:prstGeom prst="ellipse">
            <a:avLst/>
          </a:prstGeom>
          <a:noFill/>
          <a:ln w="17780">
            <a:solidFill>
              <a:srgbClr val="AD90D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381000" y="508000"/>
            <a:ext cx="8636000" cy="8636000"/>
          </a:xfrm>
          <a:prstGeom prst="ellipse">
            <a:avLst/>
          </a:prstGeom>
          <a:noFill/>
          <a:ln w="17780">
            <a:solidFill>
              <a:srgbClr val="AD90DF">
                <a:alpha val="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587500" y="-698500"/>
            <a:ext cx="11049000" cy="11049000"/>
          </a:xfrm>
          <a:prstGeom prst="ellipse">
            <a:avLst/>
          </a:prstGeom>
          <a:noFill/>
          <a:ln w="17780">
            <a:solidFill>
              <a:srgbClr val="AD90DF">
                <a:alpha val="35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20400000">
            <a:off x="127000" y="3302000"/>
            <a:ext cx="7620000" cy="3048000"/>
          </a:xfrm>
          <a:prstGeom prst="ellipse">
            <a:avLst/>
          </a:prstGeom>
          <a:noFill/>
          <a:ln w="20320">
            <a:solidFill>
              <a:srgbClr val="7C3AED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35850" y="5657850"/>
            <a:ext cx="114300" cy="114300"/>
          </a:xfrm>
          <a:prstGeom prst="ellipse">
            <a:avLst/>
          </a:prstGeom>
          <a:solidFill>
            <a:srgbClr val="AD90D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48850" y="6165850"/>
            <a:ext cx="114300" cy="114300"/>
          </a:xfrm>
          <a:prstGeom prst="ellipse">
            <a:avLst/>
          </a:prstGeom>
          <a:solidFill>
            <a:srgbClr val="7C3AE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937000" cy="6858000"/>
          </a:xfrm>
          <a:prstGeom prst="rect">
            <a:avLst/>
          </a:prstGeom>
          <a:gradFill rotWithShape="1">
            <a:gsLst>
              <a:gs pos="0">
                <a:srgbClr val="F1E7FF"/>
              </a:gs>
              <a:gs pos="100000">
                <a:srgbClr val="E9D9FB"/>
              </a:gs>
            </a:gsLst>
            <a:lin scaled="0" ang="1212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egis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495300"/>
            <a:ext cx="609600" cy="5611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4445000"/>
            <a:ext cx="29845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0" b="1">
                <a:ln w="15240">
                  <a:solidFill>
                    <a:srgbClr val="7C3AED">
                      <a:alpha val="16000"/>
                    </a:srgbClr>
                  </a:solidFill>
                </a:ln>
                <a:noFill/>
                <a:latin typeface="Sora"/>
              </a:rPr>
              <a:t>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800" y="1587500"/>
            <a:ext cx="3048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spc="250">
                <a:solidFill>
                  <a:srgbClr val="7C3AED"/>
                </a:solidFill>
                <a:latin typeface="Inter"/>
              </a:rPr>
              <a:t>REQUIREMENTS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100" y="1841500"/>
            <a:ext cx="330200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4200" b="1" spc="-150">
                <a:solidFill>
                  <a:srgbClr val="2D1A4A"/>
                </a:solidFill>
                <a:latin typeface="Sora"/>
              </a:rPr>
              <a:t>Functional</a:t>
            </a:r>
          </a:p>
          <a:p>
            <a:pPr>
              <a:lnSpc>
                <a:spcPct val="104000"/>
              </a:lnSpc>
            </a:pPr>
            <a:r>
              <a:rPr sz="4200" b="1" spc="-150">
                <a:solidFill>
                  <a:srgbClr val="6D44C9"/>
                </a:solidFill>
                <a:latin typeface="Sora"/>
              </a:rPr>
              <a:t>Requirements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800" y="3060700"/>
            <a:ext cx="2984500" cy="1079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2100" b="0">
                <a:solidFill>
                  <a:srgbClr val="6E5494"/>
                </a:solidFill>
                <a:latin typeface="Inter"/>
              </a:rPr>
              <a:t>What the AEGIS parent app delivers across the system.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800" y="6070600"/>
            <a:ext cx="1270000" cy="330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800" y="6146800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spc="160">
                <a:solidFill>
                  <a:srgbClr val="7C3AED"/>
                </a:solidFill>
                <a:latin typeface="Inter"/>
              </a:rPr>
              <a:t>SECTION 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5800" y="749300"/>
            <a:ext cx="5334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ln w="1524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0000" y="723900"/>
            <a:ext cx="28829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700" b="1" spc="-100">
                <a:solidFill>
                  <a:srgbClr val="2D1A4A"/>
                </a:solidFill>
                <a:latin typeface="Sora"/>
              </a:rPr>
              <a:t>Accounts &amp; Authentication</a:t>
            </a:r>
          </a:p>
          <a:p>
            <a:pPr>
              <a:lnSpc>
                <a:spcPct val="120000"/>
              </a:lnSpc>
              <a:spcBef>
                <a:spcPts val="700"/>
              </a:spcBef>
            </a:pPr>
            <a:r>
              <a:rPr sz="2100" b="0">
                <a:solidFill>
                  <a:srgbClr val="6E5494"/>
                </a:solidFill>
                <a:latin typeface="Inter"/>
              </a:rPr>
              <a:t>Firebase Auth login; multiple children.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3900" y="749300"/>
            <a:ext cx="5334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ln w="1524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28100" y="723900"/>
            <a:ext cx="28829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700" b="1" spc="-100">
                <a:solidFill>
                  <a:srgbClr val="2D1A4A"/>
                </a:solidFill>
                <a:latin typeface="Sora"/>
              </a:rPr>
              <a:t>Live Vitals Dashboard</a:t>
            </a:r>
          </a:p>
          <a:p>
            <a:pPr>
              <a:lnSpc>
                <a:spcPct val="120000"/>
              </a:lnSpc>
              <a:spcBef>
                <a:spcPts val="700"/>
              </a:spcBef>
            </a:pPr>
            <a:r>
              <a:rPr sz="2100" b="0">
                <a:solidFill>
                  <a:srgbClr val="6E5494"/>
                </a:solidFill>
                <a:latin typeface="Inter"/>
              </a:rPr>
              <a:t>Real-time HR, SpO2, GSR and temperature.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2222500"/>
            <a:ext cx="5334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ln w="1524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0000" y="2197100"/>
            <a:ext cx="28829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700" b="1" spc="-100">
                <a:solidFill>
                  <a:srgbClr val="2D1A4A"/>
                </a:solidFill>
                <a:latin typeface="Sora"/>
              </a:rPr>
              <a:t>Location &amp; Geofence Map</a:t>
            </a:r>
          </a:p>
          <a:p>
            <a:pPr>
              <a:lnSpc>
                <a:spcPct val="120000"/>
              </a:lnSpc>
              <a:spcBef>
                <a:spcPts val="700"/>
              </a:spcBef>
            </a:pPr>
            <a:r>
              <a:rPr sz="2100" b="0">
                <a:solidFill>
                  <a:srgbClr val="6E5494"/>
                </a:solidFill>
                <a:latin typeface="Inter"/>
              </a:rPr>
              <a:t>Live GPS and safe-zone on OpenStreetMap.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3900" y="2222500"/>
            <a:ext cx="5334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ln w="1524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28100" y="2197100"/>
            <a:ext cx="28829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700" b="1" spc="-100">
                <a:solidFill>
                  <a:srgbClr val="2D1A4A"/>
                </a:solidFill>
                <a:latin typeface="Sora"/>
              </a:rPr>
              <a:t>Safe-Zone Configuration</a:t>
            </a:r>
          </a:p>
          <a:p>
            <a:pPr>
              <a:lnSpc>
                <a:spcPct val="120000"/>
              </a:lnSpc>
              <a:spcBef>
                <a:spcPts val="700"/>
              </a:spcBef>
            </a:pPr>
            <a:r>
              <a:rPr sz="2100" b="0">
                <a:solidFill>
                  <a:srgbClr val="6E5494"/>
                </a:solidFill>
                <a:latin typeface="Inter"/>
              </a:rPr>
              <a:t>Set the geofence centre and radius.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5800" y="3695700"/>
            <a:ext cx="5334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ln w="1524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0000" y="3670300"/>
            <a:ext cx="28829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700" b="1" spc="-100">
                <a:solidFill>
                  <a:srgbClr val="2D1A4A"/>
                </a:solidFill>
                <a:latin typeface="Sora"/>
              </a:rPr>
              <a:t>Alert History</a:t>
            </a:r>
          </a:p>
          <a:p>
            <a:pPr>
              <a:lnSpc>
                <a:spcPct val="120000"/>
              </a:lnSpc>
              <a:spcBef>
                <a:spcPts val="700"/>
              </a:spcBef>
            </a:pPr>
            <a:r>
              <a:rPr sz="2100" b="0">
                <a:solidFill>
                  <a:srgbClr val="6E5494"/>
                </a:solidFill>
                <a:latin typeface="Inter"/>
              </a:rPr>
              <a:t>Stress, breach and SpO2 alerts, logged.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3900" y="3695700"/>
            <a:ext cx="5334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ln w="1524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28100" y="3670300"/>
            <a:ext cx="28829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700" b="1" spc="-100">
                <a:solidFill>
                  <a:srgbClr val="2D1A4A"/>
                </a:solidFill>
                <a:latin typeface="Sora"/>
              </a:rPr>
              <a:t>Push Notifications</a:t>
            </a:r>
          </a:p>
          <a:p>
            <a:pPr>
              <a:lnSpc>
                <a:spcPct val="120000"/>
              </a:lnSpc>
              <a:spcBef>
                <a:spcPts val="700"/>
              </a:spcBef>
            </a:pPr>
            <a:r>
              <a:rPr sz="2100" b="0">
                <a:solidFill>
                  <a:srgbClr val="6E5494"/>
                </a:solidFill>
                <a:latin typeface="Inter"/>
              </a:rPr>
              <a:t>Instant alerts via Firebase Cloud Messaging.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5800" y="5168900"/>
            <a:ext cx="5334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ln w="1524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80000" y="5143500"/>
            <a:ext cx="28829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700" b="1" spc="-100">
                <a:solidFill>
                  <a:srgbClr val="2D1A4A"/>
                </a:solidFill>
                <a:latin typeface="Sora"/>
              </a:rPr>
              <a:t>Health Analytics</a:t>
            </a:r>
          </a:p>
          <a:p>
            <a:pPr>
              <a:lnSpc>
                <a:spcPct val="120000"/>
              </a:lnSpc>
              <a:spcBef>
                <a:spcPts val="700"/>
              </a:spcBef>
            </a:pPr>
            <a:r>
              <a:rPr sz="2100" b="0">
                <a:solidFill>
                  <a:srgbClr val="6E5494"/>
                </a:solidFill>
                <a:latin typeface="Inter"/>
              </a:rPr>
              <a:t>7-day vitals trends and stress charts.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3900" y="5168900"/>
            <a:ext cx="5334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ln w="15240">
                  <a:solidFill>
                    <a:srgbClr val="AD90DF">
                      <a:alpha val="100000"/>
                    </a:srgbClr>
                  </a:solidFill>
                </a:ln>
                <a:noFill/>
                <a:latin typeface="Sora"/>
              </a:rP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28100" y="5143500"/>
            <a:ext cx="28829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700" b="1" spc="-100">
                <a:solidFill>
                  <a:srgbClr val="2D1A4A"/>
                </a:solidFill>
                <a:latin typeface="Sora"/>
              </a:rPr>
              <a:t>Calibration Tracking</a:t>
            </a:r>
          </a:p>
          <a:p>
            <a:pPr>
              <a:lnSpc>
                <a:spcPct val="120000"/>
              </a:lnSpc>
              <a:spcBef>
                <a:spcPts val="700"/>
              </a:spcBef>
            </a:pPr>
            <a:r>
              <a:rPr sz="2100" b="0">
                <a:solidFill>
                  <a:srgbClr val="6E5494"/>
                </a:solidFill>
                <a:latin typeface="Inter"/>
              </a:rPr>
              <a:t>7-day baseline before alerts activate.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495800" y="2044700"/>
            <a:ext cx="346710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343900" y="2044700"/>
            <a:ext cx="346710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495800" y="3517900"/>
            <a:ext cx="346710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343900" y="3517900"/>
            <a:ext cx="346710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495800" y="4991100"/>
            <a:ext cx="346710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343900" y="4991100"/>
            <a:ext cx="3467100" cy="0"/>
          </a:xfrm>
          <a:prstGeom prst="bentConnector3">
            <a:avLst/>
          </a:prstGeom>
          <a:ln w="12700">
            <a:solidFill>
              <a:srgbClr val="ECE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495800" y="6451600"/>
            <a:ext cx="57150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>
                <a:solidFill>
                  <a:srgbClr val="9E86C0"/>
                </a:solidFill>
                <a:latin typeface="Inter"/>
              </a:rPr>
              <a:t>Adaptive Edge-Intelligence Guardian and Safety System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95000" y="6451600"/>
            <a:ext cx="7366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6D44C9"/>
                </a:solidFill>
                <a:latin typeface="Sora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