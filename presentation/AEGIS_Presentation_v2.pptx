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08500" y="1587500"/>
            <a:ext cx="3175000" cy="3175000"/>
          </a:xfrm>
          <a:prstGeom prst="ellipse">
            <a:avLst/>
          </a:prstGeom>
          <a:noFill/>
          <a:ln w="17780">
            <a:solidFill>
              <a:srgbClr val="AD90D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92500" y="571500"/>
            <a:ext cx="5207000" cy="5207000"/>
          </a:xfrm>
          <a:prstGeom prst="ellipse">
            <a:avLst/>
          </a:prstGeom>
          <a:noFill/>
          <a:ln w="17780">
            <a:solidFill>
              <a:srgbClr val="AD90D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13000" y="-508000"/>
            <a:ext cx="7366000" cy="7366000"/>
          </a:xfrm>
          <a:prstGeom prst="ellipse">
            <a:avLst/>
          </a:prstGeom>
          <a:noFill/>
          <a:ln w="17780">
            <a:solidFill>
              <a:srgbClr val="AD90DF">
                <a:alpha val="7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6500" y="-1714500"/>
            <a:ext cx="9779000" cy="9779000"/>
          </a:xfrm>
          <a:prstGeom prst="ellipse">
            <a:avLst/>
          </a:prstGeom>
          <a:noFill/>
          <a:ln w="17780">
            <a:solidFill>
              <a:srgbClr val="AD90DF">
                <a:alpha val="4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0520000">
            <a:off x="2540000" y="1778000"/>
            <a:ext cx="7112000" cy="2794000"/>
          </a:xfrm>
          <a:prstGeom prst="ellipse">
            <a:avLst/>
          </a:prstGeom>
          <a:noFill/>
          <a:ln w="20320">
            <a:solidFill>
              <a:srgbClr val="7C3AED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9700" y="2616200"/>
            <a:ext cx="101600" cy="101600"/>
          </a:xfrm>
          <a:prstGeom prst="ellipse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74200" y="3759200"/>
            <a:ext cx="101600" cy="101600"/>
          </a:xfrm>
          <a:prstGeom prst="ellipse">
            <a:avLst/>
          </a:prstGeom>
          <a:solidFill>
            <a:srgbClr val="AD90D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5000" y="355600"/>
            <a:ext cx="33020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st-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0" y="469900"/>
            <a:ext cx="3337034" cy="381000"/>
          </a:xfrm>
          <a:prstGeom prst="rect">
            <a:avLst/>
          </a:prstGeom>
        </p:spPr>
      </p:pic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900" y="1905000"/>
            <a:ext cx="1092200" cy="1005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0" y="31623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400">
                <a:solidFill>
                  <a:srgbClr val="7C3AED"/>
                </a:solidFill>
                <a:latin typeface="Inter"/>
              </a:rPr>
              <a:t>FINAL YEAR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7620000" cy="939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800" b="1" spc="-200">
                <a:solidFill>
                  <a:srgbClr val="6D44C9"/>
                </a:solidFill>
                <a:latin typeface="Sora"/>
              </a:rPr>
              <a:t>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57700"/>
            <a:ext cx="11176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2D1A4A"/>
                </a:solidFill>
                <a:latin typeface="Sora"/>
              </a:rPr>
              <a:t>Adaptive Edge-Intelligence Guardian and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838700"/>
            <a:ext cx="762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 smart child-safety wearable with on-device stress detection, GPS geofencing and instant SMS alerts.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5651500"/>
            <a:ext cx="10668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5791200"/>
            <a:ext cx="3937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60">
                <a:solidFill>
                  <a:srgbClr val="7C3AED"/>
                </a:solidFill>
                <a:latin typeface="Inter"/>
              </a:rPr>
              <a:t>PRESENTED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07100"/>
            <a:ext cx="393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600"/>
              </a:spcBef>
            </a:pPr>
            <a:r>
              <a:rPr sz="1900" b="1">
                <a:solidFill>
                  <a:srgbClr val="2D1A4A"/>
                </a:solidFill>
                <a:latin typeface="Sora"/>
              </a:rPr>
              <a:t>Barira Sarfraz</a:t>
            </a:r>
            <a:r>
              <a:rPr sz="1900" b="1">
                <a:solidFill>
                  <a:srgbClr val="9E86C0"/>
                </a:solidFill>
                <a:latin typeface="Sora"/>
              </a:rPr>
              <a:t>  222201042</a:t>
            </a:r>
          </a:p>
          <a:p>
            <a:pPr algn="l">
              <a:spcBef>
                <a:spcPts val="600"/>
              </a:spcBef>
            </a:pPr>
            <a:r>
              <a:rPr sz="1900" b="1">
                <a:solidFill>
                  <a:srgbClr val="2D1A4A"/>
                </a:solidFill>
                <a:latin typeface="Sora"/>
              </a:rPr>
              <a:t>Nabeeha Zahid</a:t>
            </a:r>
            <a:r>
              <a:rPr sz="1900" b="1">
                <a:solidFill>
                  <a:srgbClr val="9E86C0"/>
                </a:solidFill>
                <a:latin typeface="Sora"/>
              </a:rPr>
              <a:t>  222201009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9000" y="5791200"/>
            <a:ext cx="2794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60">
                <a:solidFill>
                  <a:srgbClr val="7C3AED"/>
                </a:solidFill>
                <a:latin typeface="Inter"/>
              </a:rPr>
              <a:t>SUPERVISED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9000" y="6007100"/>
            <a:ext cx="279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600"/>
              </a:spcBef>
            </a:pPr>
            <a:r>
              <a:rPr sz="1900" b="1">
                <a:solidFill>
                  <a:srgbClr val="2D1A4A"/>
                </a:solidFill>
                <a:latin typeface="Sora"/>
              </a:rPr>
              <a:t>Dr. Altaf Hussain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0" y="57912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60">
                <a:solidFill>
                  <a:srgbClr val="7C3AED"/>
                </a:solidFill>
                <a:latin typeface="Inter"/>
              </a:rPr>
              <a:t>DEPARTMENT &amp;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6007100"/>
            <a:ext cx="381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600"/>
              </a:spcBef>
            </a:pPr>
            <a:r>
              <a:rPr sz="1900" b="1">
                <a:solidFill>
                  <a:srgbClr val="2D1A4A"/>
                </a:solidFill>
                <a:latin typeface="Sora"/>
              </a:rPr>
              <a:t>Dept. of Computer Science</a:t>
            </a:r>
          </a:p>
          <a:p>
            <a:pPr algn="r">
              <a:spcBef>
                <a:spcPts val="600"/>
              </a:spcBef>
            </a:pPr>
            <a:r>
              <a:rPr sz="1900" b="1">
                <a:solidFill>
                  <a:srgbClr val="2D1A4A"/>
                </a:solidFill>
                <a:latin typeface="Sora"/>
              </a:rPr>
              <a:t>KICSIT Campus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OUTLINE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Agenda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0066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900" y="19939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Introduction &amp; 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900" y="22606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The problem and why AEGIS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0734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900" y="30607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Objectives, Scope &amp;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1900" y="33274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Goals and how we built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1402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1900" y="41275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Literature &amp;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900" y="43942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Prior work and where AEGIS stands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2070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1900" y="51943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Solution &amp;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1900" y="54610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Our system, functional &amp; non-functional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20066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2900" y="19939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System Design &amp; Diagrams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2900" y="22606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Architecture, hardware, UML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000" y="30734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2900" y="30607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Dataset, ML Model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33274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WESAD, Random Forest,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41402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2900" y="41275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Testing &amp; Mobile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2900" y="43942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Use cases, test cases and the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3000" y="52070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2900" y="5194300"/>
            <a:ext cx="47371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Contribution &amp; 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2900" y="5461000"/>
            <a:ext cx="47371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Team,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Introduction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952500"/>
            <a:ext cx="7239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Every year, parents of young children face the same fear: a child who wanders off, panics in a crowd, or faces a medical scare cannot always say so in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1981200"/>
            <a:ext cx="7239000" cy="12700"/>
          </a:xfrm>
          <a:prstGeom prst="rect">
            <a:avLst/>
          </a:prstGeom>
          <a:solidFill>
            <a:srgbClr val="EC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8000" y="2159000"/>
            <a:ext cx="723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0" y="2463800"/>
            <a:ext cx="7239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Existing child trackers only report GPS location and depend on constant internet. They cannot sense distress, they go silent where there is no signal, and they say nothing about how a child actually feels.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3530600"/>
            <a:ext cx="723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Our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8000" y="3835400"/>
            <a:ext cx="72390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AEGIS is a wearable band for children aged 4-12 that reads physiological signals in real time, detects stress or danger on the device itself, tracks location, and alerts parents over SMS - working even with no internet.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Objectives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What AEGIS sets out to achieve, and the boundaries we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9271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Sense distress, not just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200785"/>
            <a:ext cx="6819900" cy="742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Read heart rate, SpO2, skin response and temperature on the wrist.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19812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685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Decide on the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242185"/>
            <a:ext cx="6819900" cy="742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Run the stress model on the ESP32 so alerts work without the cloud.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30226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099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Alert reliably anywhere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283585"/>
            <a:ext cx="6819900" cy="742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Send SMS over GSM so parents are reached even with no internet.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0" y="40640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0513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Keep every child personal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324985"/>
            <a:ext cx="6819900" cy="742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Calibrate a 7-day baseline so detection fits the individual child.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000" y="51054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0927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Stay private and free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366385"/>
            <a:ext cx="6819900" cy="742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Restrict data per parent and build only on free-tier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Methodology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An incremental, hardware-independent build so progress never stalls.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9271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Design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200785"/>
            <a:ext cx="6819900" cy="704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Architecture, data model and UML defined before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0" y="19431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304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App &amp; backend in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204085"/>
            <a:ext cx="6819900" cy="704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Flutter screens built with dummy data, then wired to Firebase.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29464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9337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Model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207385"/>
            <a:ext cx="6819900" cy="704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Random Forest trained and validated on the WESAD dataset.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8000" y="39497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9370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Firmware as pure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210685"/>
            <a:ext cx="6819900" cy="704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Z-score, sliding-window and geofence written and unit-tested off-device.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8000" y="49530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940300"/>
            <a:ext cx="6819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Integrate &amp;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213985"/>
            <a:ext cx="6819900" cy="704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Hardware, model, app and alerts brought together for end-to-end testing.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Literature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2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Wearable stress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49149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The WESAD dataset (Schmidt et al., 2018) established wrist signals - HR, EDA, temperature, motion - as reliable cues for stress versus calm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9812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7800" y="21336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On-device / edge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0" y="2374900"/>
            <a:ext cx="49149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Research on TinyML shows compact models such as Random Forests can run on microcontrollers, enabling decisions without a network round-trip.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34544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800" y="36068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Child-tracking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3848100"/>
            <a:ext cx="49149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Commercial trackers focus on GPS and calling; studies note their dependence on connectivity and the absence of physiological awareness.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4544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7800" y="36068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Physiological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3848100"/>
            <a:ext cx="4914900" cy="8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Galvanic skin response and heart-rate variability are documented markers of acute stress, motivating multi-sensor fusion over location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WHERE WE 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AEGIS vs Existing Wearables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07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2000" y="1943100"/>
          <a:ext cx="10668000" cy="4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6000"/>
                <a:gridCol w="2286000"/>
                <a:gridCol w="2413000"/>
                <a:gridCol w="241300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Capability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AEGIS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GPS Tracker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7C3AED"/>
                          </a:solidFill>
                          <a:latin typeface="Sora"/>
                        </a:rPr>
                        <a:t>Kids' Smartwatch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Live GPS location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Physiological / stress sensing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9A6A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On-device (edge) decisions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On-device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Cloud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Works with no internet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Offline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SMS alert fallback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9A6A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Geofencing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9A6A12"/>
                          </a:solidFill>
                          <a:latin typeface="Inter"/>
                        </a:rPr>
                        <a:t>Limited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127000" marR="101600" marT="63500" marB="63500" anchor="ctr">
                    <a:solidFill>
                      <a:srgbClr val="FAF6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0">
                          <a:solidFill>
                            <a:srgbClr val="2D1A4A"/>
                          </a:solidFill>
                          <a:latin typeface="Inter"/>
                        </a:rPr>
                        <a:t>Backend cost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1E7A4B"/>
                          </a:solidFill>
                          <a:latin typeface="Inter"/>
                        </a:rPr>
                        <a:t>Free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Paid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C42A45"/>
                          </a:solidFill>
                          <a:latin typeface="Inter"/>
                        </a:rPr>
                        <a:t>Paid</a:t>
                      </a:r>
                    </a:p>
                  </a:txBody>
                  <a:tcPr marL="127000" marR="101600" marT="63500" marB="635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Our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200"/>
            <a:ext cx="5270500" cy="1308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01  Wearable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49149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ESP32 reads the sensors, runs the model, calibrates and decides - the brain of the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981200"/>
            <a:ext cx="5270500" cy="1308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7800" y="21336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02  Edge ML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0" y="2374900"/>
            <a:ext cx="49149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Random Forest trained on WESAD, flashed to the band, classifying stress entirely on-device.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3429000"/>
            <a:ext cx="5270500" cy="1308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800" y="35814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03  Parent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3822700"/>
            <a:ext cx="49149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Flutter app that visualises vitals, location, alerts and analytics - it never makes decisions.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429000"/>
            <a:ext cx="5270500" cy="1308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7800" y="35814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04  Firebase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3822700"/>
            <a:ext cx="491490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Free-tier Firestore, Auth and Cloud Messaging for storage, sync and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Functional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9398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92710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Accounts &amp;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119380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Firebase Auth login; multiple children.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2750" y="9398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0" y="92710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Live Vitals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0" y="119380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Real-time HR, SpO2, GSR and temperature.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230505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229235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Location &amp; Geofence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0" y="255905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Live GPS and safe-zone on OpenStreetMap.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2750" y="230505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0" y="229235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Safe-Zone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0" y="255905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Set the geofence centre and radius.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8000" y="36703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2500" y="365760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Alert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2500" y="392430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Stress, breach and SpO2 alerts, logged.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2750" y="367030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0" y="365760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Push 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0" y="392430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Instant alerts via Firebase Cloud Messaging.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8000" y="503555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0" y="502285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Health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0" y="528955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7-day vitals trends and stress charts.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2750" y="5035550"/>
            <a:ext cx="3683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ln w="1397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0" y="5022850"/>
            <a:ext cx="320675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Calibration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0" y="5289550"/>
            <a:ext cx="3206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7-day baseline before alerts activate.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Non-Functional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10</a:t>
            </a:r>
          </a:p>
        </p:txBody>
      </p:sp>
      <p:sp>
        <p:nvSpPr>
          <p:cNvPr id="19" name="Oval 18"/>
          <p:cNvSpPr/>
          <p:nvPr/>
        </p:nvSpPr>
        <p:spPr>
          <a:xfrm>
            <a:off x="4318000" y="9906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3900" y="9271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12192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Alerts fire even offline - SMS over GSM, cached then synced.</a:t>
            </a:r>
          </a:p>
        </p:txBody>
      </p:sp>
      <p:sp>
        <p:nvSpPr>
          <p:cNvPr id="22" name="Oval 21"/>
          <p:cNvSpPr/>
          <p:nvPr/>
        </p:nvSpPr>
        <p:spPr>
          <a:xfrm>
            <a:off x="8032750" y="9906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8650" y="9271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Security &amp; 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8650" y="12192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Firestore rules restrict each parent to their own children's data.</a:t>
            </a:r>
          </a:p>
        </p:txBody>
      </p:sp>
      <p:sp>
        <p:nvSpPr>
          <p:cNvPr id="25" name="Oval 24"/>
          <p:cNvSpPr/>
          <p:nvPr/>
        </p:nvSpPr>
        <p:spPr>
          <a:xfrm>
            <a:off x="4318000" y="27559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3900" y="26924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900" y="29845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10-second monitoring cycle with real-time app updates.</a:t>
            </a:r>
          </a:p>
        </p:txBody>
      </p:sp>
      <p:sp>
        <p:nvSpPr>
          <p:cNvPr id="28" name="Oval 27"/>
          <p:cNvSpPr/>
          <p:nvPr/>
        </p:nvSpPr>
        <p:spPr>
          <a:xfrm>
            <a:off x="8032750" y="27559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8650" y="26924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Power Efficiency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8650" y="29845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Duty-cycled sensing to extend battery life on a small LiPo cell.</a:t>
            </a:r>
          </a:p>
        </p:txBody>
      </p:sp>
      <p:sp>
        <p:nvSpPr>
          <p:cNvPr id="31" name="Oval 30"/>
          <p:cNvSpPr/>
          <p:nvPr/>
        </p:nvSpPr>
        <p:spPr>
          <a:xfrm>
            <a:off x="4318000" y="45212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3900" y="44577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47498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The 7-day calibration is communicated clearly to parents.</a:t>
            </a:r>
          </a:p>
        </p:txBody>
      </p:sp>
      <p:sp>
        <p:nvSpPr>
          <p:cNvPr id="34" name="Oval 33"/>
          <p:cNvSpPr/>
          <p:nvPr/>
        </p:nvSpPr>
        <p:spPr>
          <a:xfrm>
            <a:off x="8032750" y="4521200"/>
            <a:ext cx="101600" cy="1016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8650" y="4457700"/>
            <a:ext cx="3429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Affordability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8650" y="4749800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Built entirely on free-tier services - zero paid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Tools &amp;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2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21336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Wearable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749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ESP32 · MAX30102 · MPU6050 · GSR · MLX90614 · NEO-6M GPS · SIM800L GSM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9750" y="19812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7550" y="21336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550" y="23749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Python · scikit-learn · Random Forest · WESAD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37500" y="19812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5300" y="21336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5300" y="23749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Flutter · Dart · Provider · fl_chart · flutter_map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5687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37211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Backend (free tier)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00" y="39624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Firebase Auth · Cloud Firestore · Cloud Messaging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9750" y="35687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7550" y="37211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Maps &amp; Comms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7550" y="39624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OpenStreetMap · WiFi · BLE · GSM / SMS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7500" y="3568700"/>
            <a:ext cx="3365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5300" y="3721100"/>
            <a:ext cx="300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5300" y="3962400"/>
            <a:ext cx="30099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GitHub · GitHub Actions CI · PlatformIO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System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Four layers: Wearable band → GSM / WiFi → Firebase → Parent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System Workflow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Data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Workflow / 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Sensor read → Z-score → ML → sliding window → alert → SMS / Firebase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Hardware Block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&amp; Circuit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Hardware Block / Circuit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ESP32 with MAX30102, MPU6050, GSR, MLX90614, NEO-6M and SIM800L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Use Case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Use Case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Parent and Wearable actors across monitoring, alerts and configuration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View Real-Time Vitals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905000"/>
          <a:ext cx="10668000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Parent logs into the app.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authenticates the credentials and grants access.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Parent selects the child profile.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retrieves the data for the selected child's band.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vitals dashboard.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fetches the latest HR, SpO2, temperature and stress. 2. Displays them on the dashboard in real time.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01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View Real-Time Vitals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905000"/>
          <a:ext cx="10668000" cy="149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Parent opens the app while offline.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System displays the last cached reading from the band.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1b. Connectivity is restored.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1b. System resumes the typical flow with live data.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3581400"/>
          <a:ext cx="10668000" cy="149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Parent enters incorrect login credentials.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System prompts re-entry of credentials.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1d. Login fails three times.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1d. System locks the account for five minutes.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Monitor Heart Rate &amp; SpO2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765300"/>
          <a:ext cx="10668000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MAX30102 reads pulse and oxygen data.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ESP32 computes heart rate and SpO2 values.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ESP32 compares readings to baseline thresholds.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uploads the validated readings to the cloud.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app to check trends.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App fetches and displays HR and SpO2 history.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3898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Sensor noise is detected during reading.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Band filters the signal with the onboard ML model, then resumes once clean.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5041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MAX30102 fails to respond.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Band logs the sensor error and sends a fallback alert via GSM.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Monitor Body Temperature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19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765300"/>
          <a:ext cx="10668000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MLX90614 reads the child's body temperature.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ESP32 compares the value to the configured threshold.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Reading is within the normal range.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stores the reading in the cloud.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Parent views the temperature trend.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App displays the latest and historical temperature data.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3898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Ambient interference affects the reading.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Band recalibrates the sensor and resumes with a corrected reading.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5041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Reading is out of range (&gt;50C or &lt;20C).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System activates anomaly detection and triggers an alert.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Monitor Stress Level (GSR)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765300"/>
          <a:ext cx="10668000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GSR sensor measures skin conductance.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ESP32 runs the on-device ML model to infer stress.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Stress level is classified.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streams the classified data to the cloud.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Parent opens the app.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App displays the current and historical stress trend.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3898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GSR signal is weak or unstable.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System applies the child's baseline, then resumes.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5041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Stress remains persistently high.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System triggers an alert without waiting for cloud confirmation.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USE CASE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View Live Location &amp;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2000" y="1765300"/>
          <a:ext cx="10668000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Typical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1. Parent opens the location tab.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App requests the latest location from the cloud.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2. NEO-6M GPS provides coordinates.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ESP32 checks the coordinates against the geofence.</a:t>
                      </a:r>
                    </a:p>
                  </a:txBody>
                  <a:tcPr marL="127000" marR="101600" marT="63500" marB="63500" anchor="t">
                    <a:solidFill>
                      <a:srgbClr val="FAF6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3. Band reports the verified position.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1. System uploads coordinates and updates the map view.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2000" y="3898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Alternative Course of Actions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Alternative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1a. GPS signal is weak or unavailable.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1a. Band falls back to cell-tower location and resumes.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5041900"/>
          <a:ext cx="10668000" cy="1003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34000"/>
                <a:gridCol w="5334000"/>
              </a:tblGrid>
              <a:tr h="254000">
                <a:tc gridSpan="2"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700" b="1">
                          <a:solidFill>
                            <a:srgbClr val="7C3AED"/>
                          </a:solidFill>
                          <a:latin typeface="Sora"/>
                        </a:rPr>
                        <a:t>Exception Flow</a:t>
                      </a:r>
                    </a:p>
                  </a:txBody>
                  <a:tcPr marL="127000" marR="101600" marT="63500" marB="63500" anchor="ctr">
                    <a:solidFill>
                      <a:srgbClr val="DDC9F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5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Actor's Action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6D44C9"/>
                          </a:solidFill>
                          <a:latin typeface="Sora"/>
                        </a:rPr>
                        <a:t>Exception System Response</a:t>
                      </a:r>
                    </a:p>
                  </a:txBody>
                  <a:tcPr marL="127000" marR="101600" marT="63500" marB="63500" anchor="ctr">
                    <a:solidFill>
                      <a:srgbClr val="EDE0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2D1A4A"/>
                          </a:solidFill>
                          <a:latin typeface="Inter"/>
                        </a:rPr>
                        <a:t>1c. Location upload fails.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600" b="0">
                          <a:solidFill>
                            <a:srgbClr val="6E5494"/>
                          </a:solidFill>
                          <a:latin typeface="Inter"/>
                        </a:rPr>
                        <a:t>1c. System stores data locally and retries once reconnected.</a:t>
                      </a:r>
                    </a:p>
                  </a:txBody>
                  <a:tcPr marL="127000" marR="101600" marT="63500" marB="635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Entity-Relationship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ERD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users → children → vitals / alerts, and devices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Activity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Activity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Monitoring cycle: calibrate → monitor → detect →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Class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Class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Models (Child, Vital, Alert) and services (Auth, Firestore, Map)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Sequence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Sequence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Breach alert across Wearable → GSM → Parent and Wearable → Firebase →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DIAGRAM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Dataset &amp;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ML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Trained offline, then flashed to the band to run on-device.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952500"/>
            <a:ext cx="228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000" y="1244600"/>
            <a:ext cx="723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WESAD - 15 subjects, wrist physiological signals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18000" y="1828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18000" y="1968500"/>
            <a:ext cx="228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8000" y="2260600"/>
            <a:ext cx="723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Random Forest · 15 trees · max depth 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8000" y="2844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18000" y="2984500"/>
            <a:ext cx="228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3276600"/>
            <a:ext cx="723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Binary: NORMAL or STRESS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3860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18000" y="4000500"/>
            <a:ext cx="228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4292600"/>
            <a:ext cx="723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14 inputs - HR, HRV, RMSSD, EDA, temperature, motion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18000" y="4876800"/>
            <a:ext cx="7239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18000" y="5016500"/>
            <a:ext cx="228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On-device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8000" y="5308600"/>
            <a:ext cx="723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Exported to a C header and run on the ESP32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ML Model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81200"/>
            <a:ext cx="2413000" cy="124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100" y="2197100"/>
            <a:ext cx="2108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7C3AED"/>
                </a:solidFill>
                <a:latin typeface="Sora"/>
              </a:rPr>
              <a:t>97.96%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" y="2717800"/>
            <a:ext cx="2108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Training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5500" y="1981200"/>
            <a:ext cx="2413000" cy="124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0600" y="2197100"/>
            <a:ext cx="2108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7C3AED"/>
                </a:solidFill>
                <a:latin typeface="Sora"/>
              </a:rPr>
              <a:t>96.03%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0600" y="2717800"/>
            <a:ext cx="2108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Cross-validation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9000" y="1981200"/>
            <a:ext cx="2413000" cy="124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4100" y="2197100"/>
            <a:ext cx="21082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7C3AED"/>
                </a:solidFill>
                <a:latin typeface="Sora"/>
              </a:rPr>
              <a:t>± 1.24%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4100" y="2717800"/>
            <a:ext cx="2108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CV std. deviation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403600"/>
            <a:ext cx="4762500" cy="29718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51150" y="41275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1150" y="41783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000" y="4838700"/>
            <a:ext cx="42545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68900"/>
            <a:ext cx="4000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NORMAL vs STRESS - export from ml/test_aegis_model.py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40000" y="59182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0000" y="59753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CHART PLACEHOLDER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3403600"/>
            <a:ext cx="5715000" cy="2971800"/>
          </a:xfrm>
          <a:prstGeom prst="roundRect">
            <a:avLst/>
          </a:prstGeom>
          <a:solidFill>
            <a:srgbClr val="FAF6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6449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Per-class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962400"/>
            <a:ext cx="5207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Precision, recall and F1 (per NORMAL / STRESS class) come from the model test script's classification report and will be filled in here.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7752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6D44C9"/>
                </a:solidFill>
                <a:latin typeface="Sora"/>
              </a:rPr>
              <a:t>Precision  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1943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6D44C9"/>
                </a:solidFill>
                <a:latin typeface="Sora"/>
              </a:rPr>
              <a:t>Recall 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6134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6D44C9"/>
                </a:solidFill>
                <a:latin typeface="Sora"/>
              </a:rPr>
              <a:t>F1-score  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ML-EVAL-01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Model Classification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E3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1E7A4B"/>
                </a:solidFill>
                <a:latin typeface="Sora"/>
              </a:rPr>
              <a:t>PASS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Evaluate the RF classifier on WESAD.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WESAD: 14 features, 15 subjects.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Accuracy at or above 90%.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97.96% train; 96.03% CV (+/-1.24%).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Accuracy &gt;= 90%, stable across folds.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Baseline Z-Score Normalization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89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Standardize a reading vs the baseline.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reading=80, mean=70, std=5.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Returns 2.0.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Z-score equals the computed value.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Stress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Confirm the RF returns the expected label.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 STRESS vector, then a NORMAL vector.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Returns STRESS, then NORMAL.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Labels match training annotations.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TC-FW-003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7-Day Calibration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89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Finish calibration only after 7 days.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7 days of mock HR/EDA/temp readings.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Classification enabled from day 8.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Baseline finalized; gated to day 8.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TC-HW-001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Heart Rate Accuracy vs Oximeter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MAX30102 HR vs a clinical oximeter.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10 paired samples over 5 minutes.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Within +/- 5 bpm of reference.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hardware session.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Mean abs. difference &lt;= 5 bpm.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TC-HW-002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SMS Fallback When WiFi 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89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GSM SMS fallback when WiFi fails.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Stress alert with WiFi disabled.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SMS received within fallback window.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hardware session.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Logs 'SMS sent: OK'; SMS received.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TC-APP-001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Parent Account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Register a parent via Firebase Auth.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Name, unique email, valid password.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Account created; onboarding opens.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Account in Firebase Auth; navigates.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TC-APP-002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Define and Persist a Safe Zone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89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Draw a safe zone; check it persists.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Zone name, centre, radius.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Zone reappears after restart.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Geofence saved in Firestore.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TC-APP-003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Invalid Login Rejection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4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60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Reject wrong credentials clearly.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Valid email, wrong password.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Error shown; no navigation.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execution (MVP).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Stays on login; no token issued.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8650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050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TC-INT-001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050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End-to-End Geofence Breach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890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890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4050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050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050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Breach: firmware through to app push.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050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050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Mock GPS outside the safe zone.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050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050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Push arrives within sync interval.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050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050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integration session.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050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050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Alert in Firestore; push delivered.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698500"/>
            <a:ext cx="4572000" cy="4572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31000" y="-1968500"/>
            <a:ext cx="7112000" cy="7112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0" y="-3619500"/>
            <a:ext cx="10414000" cy="10414000"/>
          </a:xfrm>
          <a:prstGeom prst="ellipse">
            <a:avLst/>
          </a:prstGeom>
          <a:noFill/>
          <a:ln w="17780">
            <a:solidFill>
              <a:srgbClr val="AD90D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Detailed Test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4250" y="1841500"/>
            <a:ext cx="51435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4250" y="1917700"/>
            <a:ext cx="50800" cy="3657600"/>
          </a:xfrm>
          <a:prstGeom prst="round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8250" y="2006600"/>
            <a:ext cx="355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40">
                <a:solidFill>
                  <a:srgbClr val="7C3AED"/>
                </a:solidFill>
                <a:latin typeface="Inter"/>
              </a:rPr>
              <a:t>TC-INT-002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8250" y="2171700"/>
            <a:ext cx="3556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200" b="1" spc="-50">
                <a:solidFill>
                  <a:srgbClr val="2D1A4A"/>
                </a:solidFill>
                <a:latin typeface="Sora"/>
              </a:rPr>
              <a:t>Alert Flag Triggers FCM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6650" y="2032000"/>
            <a:ext cx="952500" cy="266700"/>
          </a:xfrm>
          <a:prstGeom prst="roundRect">
            <a:avLst/>
          </a:prstGeom>
          <a:solidFill>
            <a:srgbClr val="FC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6650" y="2089150"/>
            <a:ext cx="952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00">
                <a:solidFill>
                  <a:srgbClr val="9A6A12"/>
                </a:solidFill>
                <a:latin typeface="Sora"/>
              </a:rPr>
              <a:t>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78250" y="2667000"/>
            <a:ext cx="46355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78250" y="28067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8250" y="29591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Alert write triggers an FCM push.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8250" y="33528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8250" y="35052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Vitals record with alert = true.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8250" y="38989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8250" y="40513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Push received; sync unaffected.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8250" y="44450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ACTUAL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8250" y="45974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Pending integration session.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8250" y="4991100"/>
            <a:ext cx="4635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60">
                <a:solidFill>
                  <a:srgbClr val="6D44C9"/>
                </a:solidFill>
                <a:latin typeface="Inter"/>
              </a:rPr>
              <a:t>PASS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8250" y="5143500"/>
            <a:ext cx="46355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6E5494"/>
                </a:solidFill>
                <a:latin typeface="Inter"/>
              </a:rPr>
              <a:t>Delivery log shows dispatch.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Mobile App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1663700"/>
            <a:ext cx="952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>
                <a:solidFill>
                  <a:srgbClr val="6E5494"/>
                </a:solidFill>
                <a:latin typeface="Inter"/>
              </a:rPr>
              <a:t>The parent app's real flow - drop native captures into the frames.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286000"/>
            <a:ext cx="1905000" cy="35560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2349500"/>
            <a:ext cx="1778000" cy="3429000"/>
          </a:xfrm>
          <a:prstGeom prst="round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11300" y="2425700"/>
            <a:ext cx="406400" cy="762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600" y="37846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2D1A4A"/>
                </a:solidFill>
                <a:latin typeface="Sora"/>
              </a:rPr>
              <a:t>Splash &amp;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40767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E86C0"/>
                </a:solidFill>
                <a:latin typeface="Inter"/>
              </a:rPr>
              <a:t>App screenshot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943600"/>
            <a:ext cx="190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6E5494"/>
                </a:solidFill>
                <a:latin typeface="Inter"/>
              </a:rPr>
              <a:t>Sign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52750" y="2286000"/>
            <a:ext cx="1905000" cy="35560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16250" y="2349500"/>
            <a:ext cx="1778000" cy="3429000"/>
          </a:xfrm>
          <a:prstGeom prst="round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02050" y="2425700"/>
            <a:ext cx="406400" cy="762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350" y="37846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2D1A4A"/>
                </a:solidFill>
                <a:latin typeface="Sora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350" y="40767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E86C0"/>
                </a:solidFill>
                <a:latin typeface="Inter"/>
              </a:rPr>
              <a:t>App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2750" y="5943600"/>
            <a:ext cx="190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6E5494"/>
                </a:solidFill>
                <a:latin typeface="Inter"/>
              </a:rPr>
              <a:t>Live vitals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2286000"/>
            <a:ext cx="1905000" cy="35560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07000" y="2349500"/>
            <a:ext cx="1778000" cy="3429000"/>
          </a:xfrm>
          <a:prstGeom prst="round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2800" y="2425700"/>
            <a:ext cx="406400" cy="762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45100" y="37846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2D1A4A"/>
                </a:solidFill>
                <a:latin typeface="Sora"/>
              </a:rPr>
              <a:t>Map &amp; Geofence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5100" y="40767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E86C0"/>
                </a:solidFill>
                <a:latin typeface="Inter"/>
              </a:rPr>
              <a:t>App screenshot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3500" y="5943600"/>
            <a:ext cx="190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6E5494"/>
                </a:solidFill>
                <a:latin typeface="Inter"/>
              </a:rPr>
              <a:t>Location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4250" y="2286000"/>
            <a:ext cx="1905000" cy="35560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97750" y="2349500"/>
            <a:ext cx="1778000" cy="3429000"/>
          </a:xfrm>
          <a:prstGeom prst="round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550" y="2425700"/>
            <a:ext cx="406400" cy="762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5850" y="37846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2D1A4A"/>
                </a:solidFill>
                <a:latin typeface="Sora"/>
              </a:rPr>
              <a:t>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5850" y="40767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E86C0"/>
                </a:solidFill>
                <a:latin typeface="Inter"/>
              </a:rPr>
              <a:t>App screenshot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4250" y="5943600"/>
            <a:ext cx="190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6E5494"/>
                </a:solidFill>
                <a:latin typeface="Inter"/>
              </a:rPr>
              <a:t>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5000" y="2286000"/>
            <a:ext cx="1905000" cy="35560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88500" y="2349500"/>
            <a:ext cx="1778000" cy="3429000"/>
          </a:xfrm>
          <a:prstGeom prst="roundRect">
            <a:avLst/>
          </a:prstGeom>
          <a:solidFill>
            <a:srgbClr val="F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274300" y="2425700"/>
            <a:ext cx="406400" cy="76200"/>
          </a:xfrm>
          <a:prstGeom prst="roundRect">
            <a:avLst/>
          </a:prstGeom>
          <a:solidFill>
            <a:srgbClr val="2D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6600" y="37846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2D1A4A"/>
                </a:solidFill>
                <a:latin typeface="Sora"/>
              </a:rP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6600" y="40767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9E86C0"/>
                </a:solidFill>
                <a:latin typeface="Inter"/>
              </a:rPr>
              <a:t>App screenshot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0" y="5943600"/>
            <a:ext cx="190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6E5494"/>
                </a:solidFill>
                <a:latin typeface="Inter"/>
              </a:rPr>
              <a:t>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CREDITS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Team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A shared build - refine the split to match your own division of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8000" y="952500"/>
            <a:ext cx="346075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1193800"/>
            <a:ext cx="406400" cy="374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0" y="1244600"/>
            <a:ext cx="254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Barira Sarfraz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536700"/>
            <a:ext cx="254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9E86C0"/>
                </a:solidFill>
                <a:latin typeface="Inter"/>
              </a:rPr>
              <a:t>222201042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33900" y="1955800"/>
            <a:ext cx="302895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52950" y="22415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2500" y="22098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Flutter app screens &amp; UI</a:t>
            </a:r>
          </a:p>
        </p:txBody>
      </p:sp>
      <p:sp>
        <p:nvSpPr>
          <p:cNvPr id="27" name="Oval 26"/>
          <p:cNvSpPr/>
          <p:nvPr/>
        </p:nvSpPr>
        <p:spPr>
          <a:xfrm>
            <a:off x="4552950" y="29273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2500" y="28956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Firebase integration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552950" y="36131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2500" y="35814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App–backend data 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2750" y="952500"/>
            <a:ext cx="346075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1193800"/>
            <a:ext cx="406400" cy="374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43950" y="1244600"/>
            <a:ext cx="254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Nabeeha Zahid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3950" y="1536700"/>
            <a:ext cx="254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9E86C0"/>
                </a:solidFill>
                <a:latin typeface="Inter"/>
              </a:rPr>
              <a:t>222201009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48650" y="1955800"/>
            <a:ext cx="302895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267700" y="22415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7250" y="22098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ML model &amp; WESAD pipeline</a:t>
            </a:r>
          </a:p>
        </p:txBody>
      </p:sp>
      <p:sp>
        <p:nvSpPr>
          <p:cNvPr id="38" name="Oval 37"/>
          <p:cNvSpPr/>
          <p:nvPr/>
        </p:nvSpPr>
        <p:spPr>
          <a:xfrm>
            <a:off x="8267700" y="29273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7250" y="28956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Firmware logic &amp; geofencing</a:t>
            </a:r>
          </a:p>
        </p:txBody>
      </p:sp>
      <p:sp>
        <p:nvSpPr>
          <p:cNvPr id="40" name="Oval 39"/>
          <p:cNvSpPr/>
          <p:nvPr/>
        </p:nvSpPr>
        <p:spPr>
          <a:xfrm>
            <a:off x="8267700" y="36131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7250" y="3581400"/>
            <a:ext cx="279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Documentation &amp; testing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PROBLEM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Challenges &amp; Solutions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19685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21082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Hardware not yet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23876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Wrote sensor logic as pure, testable functions and simulated data so app and model could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19685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7800" y="21082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No reliable internet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7800" y="23876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Moved all decisions on-device and added GSM SMS with offline caching that syncs later.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" y="34290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800" y="35687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Stress vs. physical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800" y="38481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Added an accelerometer activity filter so high motion with low skin response is not flagged.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0000" y="34290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7800" y="35687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Every child is different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7800" y="38481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7-day calibration builds a personal baseline; readings become Z-scores against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48895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800" y="50292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Sensitive children's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800" y="53086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Firestore security rules scope every record to the owning parent only.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0000" y="4889500"/>
            <a:ext cx="52705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7800" y="5029200"/>
            <a:ext cx="491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spc="-50">
                <a:solidFill>
                  <a:srgbClr val="2D1A4A"/>
                </a:solidFill>
                <a:latin typeface="Sora"/>
              </a:rPr>
              <a:t>Zero budget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7800" y="5308600"/>
            <a:ext cx="49149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Chose a fully free-tier stack - Firebase, OpenStreetMap, GSM hardware only.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HONESTY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Limitations &amp;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Future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952500"/>
            <a:ext cx="342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Where we are today</a:t>
            </a:r>
          </a:p>
        </p:txBody>
      </p:sp>
      <p:sp>
        <p:nvSpPr>
          <p:cNvPr id="20" name="Oval 19"/>
          <p:cNvSpPr/>
          <p:nvPr/>
        </p:nvSpPr>
        <p:spPr>
          <a:xfrm>
            <a:off x="4318000" y="13398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3900" y="13081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Hardware is at dev-kit prototype stage</a:t>
            </a:r>
          </a:p>
        </p:txBody>
      </p:sp>
      <p:sp>
        <p:nvSpPr>
          <p:cNvPr id="22" name="Oval 21"/>
          <p:cNvSpPr/>
          <p:nvPr/>
        </p:nvSpPr>
        <p:spPr>
          <a:xfrm>
            <a:off x="4318000" y="20764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3900" y="20447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Some app screens use simulated data</a:t>
            </a:r>
          </a:p>
        </p:txBody>
      </p:sp>
      <p:sp>
        <p:nvSpPr>
          <p:cNvPr id="24" name="Oval 23"/>
          <p:cNvSpPr/>
          <p:nvPr/>
        </p:nvSpPr>
        <p:spPr>
          <a:xfrm>
            <a:off x="4318000" y="28130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3900" y="27813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The model classifies stress as binary only</a:t>
            </a:r>
          </a:p>
        </p:txBody>
      </p:sp>
      <p:sp>
        <p:nvSpPr>
          <p:cNvPr id="26" name="Oval 25"/>
          <p:cNvSpPr/>
          <p:nvPr/>
        </p:nvSpPr>
        <p:spPr>
          <a:xfrm>
            <a:off x="4318000" y="35496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3900" y="35179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Battery life is not yet measured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4500" y="952500"/>
            <a:ext cx="342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6D44C9"/>
                </a:solidFill>
                <a:latin typeface="Sora"/>
              </a:rPr>
              <a:t>Where we are headed</a:t>
            </a:r>
          </a:p>
        </p:txBody>
      </p:sp>
      <p:sp>
        <p:nvSpPr>
          <p:cNvPr id="29" name="Oval 28"/>
          <p:cNvSpPr/>
          <p:nvPr/>
        </p:nvSpPr>
        <p:spPr>
          <a:xfrm>
            <a:off x="8064500" y="13398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0400" y="13081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Full sensor and band integration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064500" y="20764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0400" y="20447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BLE pairing and power optimization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064500" y="28130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400" y="27813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More affect classes beyond stress</a:t>
            </a:r>
          </a:p>
        </p:txBody>
      </p:sp>
      <p:sp>
        <p:nvSpPr>
          <p:cNvPr id="35" name="Oval 34"/>
          <p:cNvSpPr/>
          <p:nvPr/>
        </p:nvSpPr>
        <p:spPr>
          <a:xfrm>
            <a:off x="8064500" y="3549650"/>
            <a:ext cx="88900" cy="88900"/>
          </a:xfrm>
          <a:prstGeom prst="ellipse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0400" y="3517900"/>
            <a:ext cx="3175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real-world pilot with families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SHOWCASE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2D1A4A"/>
                </a:solidFill>
                <a:latin typeface="Sora"/>
              </a:rPr>
              <a:t>Project</a:t>
            </a:r>
          </a:p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Poster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2692400"/>
            <a:ext cx="29718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The A1 project poster summarising AEGIS for the exhibition.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8000" y="952500"/>
            <a:ext cx="7239000" cy="5207000"/>
          </a:xfrm>
          <a:prstGeom prst="roundRect">
            <a:avLst/>
          </a:prstGeom>
          <a:solidFill>
            <a:srgbClr val="FAF6FF"/>
          </a:solidFill>
          <a:ln w="25400">
            <a:solidFill>
              <a:srgbClr val="AD90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45400" y="2794000"/>
            <a:ext cx="584200" cy="5842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5400" y="2844800"/>
            <a:ext cx="58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200" b="1">
                <a:solidFill>
                  <a:srgbClr val="7C3AED"/>
                </a:solidFill>
                <a:latin typeface="Sor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505200"/>
            <a:ext cx="6731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2D1A4A"/>
                </a:solidFill>
                <a:latin typeface="Sora"/>
              </a:rPr>
              <a:t>Project Poster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9000" y="3835400"/>
            <a:ext cx="647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>
                <a:solidFill>
                  <a:srgbClr val="9E86C0"/>
                </a:solidFill>
                <a:latin typeface="Inter"/>
              </a:rPr>
              <a:t>Drop the final exhibition poster (portrait A1) 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4250" y="5702300"/>
            <a:ext cx="1206500" cy="266700"/>
          </a:xfrm>
          <a:prstGeom prst="roundRect">
            <a:avLst/>
          </a:prstGeom>
          <a:solidFill>
            <a:srgbClr val="ED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4250" y="5759450"/>
            <a:ext cx="12065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spc="140">
                <a:solidFill>
                  <a:srgbClr val="7C3AED"/>
                </a:solidFill>
                <a:latin typeface="Inter"/>
              </a:rPr>
              <a:t>POSTER PLACEHOLDER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57200"/>
            <a:ext cx="533400" cy="4909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5974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200" b="1">
                <a:ln w="13970">
                  <a:solidFill>
                    <a:srgbClr val="7C3AED">
                      <a:alpha val="15000"/>
                    </a:srgbClr>
                  </a:solidFill>
                </a:ln>
                <a:noFill/>
                <a:latin typeface="Sora"/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1473200"/>
            <a:ext cx="29845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CLOSING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" y="1714500"/>
            <a:ext cx="34036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 spc="-100">
                <a:solidFill>
                  <a:srgbClr val="6D44C9"/>
                </a:solidFill>
                <a:latin typeface="Sora"/>
              </a:rPr>
              <a:t>Conclusion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6070600"/>
            <a:ext cx="1244600" cy="31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000" y="6146800"/>
            <a:ext cx="12446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spc="140">
                <a:solidFill>
                  <a:srgbClr val="7C3AED"/>
                </a:solidFill>
                <a:latin typeface="Inter"/>
              </a:rPr>
              <a:t>SECTION 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8000" y="1016000"/>
            <a:ext cx="7239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>
                <a:solidFill>
                  <a:srgbClr val="6E5494"/>
                </a:solidFill>
                <a:latin typeface="Inter"/>
              </a:rPr>
              <a:t>AEGIS reimagines child safety as more than a dot on a map. By sensing distress on the wrist, deciding on the device, and reaching parents even without internet, it turns a tracker into a true guardian.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2451100"/>
            <a:ext cx="7239000" cy="12700"/>
          </a:xfrm>
          <a:prstGeom prst="rect">
            <a:avLst/>
          </a:prstGeom>
          <a:solidFill>
            <a:srgbClr val="EC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8000" y="2692400"/>
            <a:ext cx="3460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Edge-first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0" y="2984500"/>
            <a:ext cx="3460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Decisions happen on the band, not the cloud.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2750" y="2692400"/>
            <a:ext cx="3460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Always reachable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2750" y="2984500"/>
            <a:ext cx="3460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SMS over GSM means alerts arrive offline.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4140200"/>
            <a:ext cx="3460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Personal &amp; private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8000" y="4432300"/>
            <a:ext cx="3460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Per-child calibration, per-parent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2750" y="4140200"/>
            <a:ext cx="3460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300" b="1" spc="-50">
                <a:solidFill>
                  <a:srgbClr val="2D1A4A"/>
                </a:solidFill>
                <a:latin typeface="Sora"/>
              </a:rPr>
              <a:t>Built for zero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2750" y="4432300"/>
            <a:ext cx="34607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900" b="0">
                <a:solidFill>
                  <a:srgbClr val="6E5494"/>
                </a:solidFill>
                <a:latin typeface="Inter"/>
              </a:rPr>
              <a:t>A complete system on free-tier services.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03500" y="36830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51000" y="27305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5000" y="17145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08000" y="5715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5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714500" y="-6350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2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0" y="33655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42200" y="5727700"/>
            <a:ext cx="101600" cy="101600"/>
          </a:xfrm>
          <a:prstGeom prst="ellipse">
            <a:avLst/>
          </a:prstGeom>
          <a:solidFill>
            <a:srgbClr val="AD90D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55200" y="6172200"/>
            <a:ext cx="101600" cy="1016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812800"/>
            <a:ext cx="825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240">
                <a:solidFill>
                  <a:srgbClr val="7C3AED"/>
                </a:solidFill>
                <a:latin typeface="Inter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1054100"/>
            <a:ext cx="9906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spc="-100">
                <a:solidFill>
                  <a:srgbClr val="2D1A4A"/>
                </a:solidFill>
                <a:latin typeface="Sora"/>
              </a:rPr>
              <a:t>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700" y="1562100"/>
            <a:ext cx="533400" cy="31750"/>
          </a:xfrm>
          <a:prstGeom prst="rect">
            <a:avLst/>
          </a:prstGeom>
          <a:solidFill>
            <a:srgbClr val="AD9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464300"/>
            <a:ext cx="596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51600"/>
            <a:ext cx="50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6D44C9"/>
                </a:solidFill>
                <a:latin typeface="Sora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0066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20066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Schmidt, P. et al. (2018). Introducing WESAD, a Multimodal Dataset for Wearable Stress and Affect Detection. ACM ICMI.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20066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066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Breiman, L. (2001). Random Forests. Machine Learning, 45(1), 5-32.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0734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30734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Pedregosa, F. et al. (2011). Scikit-learn: Machine Learning in Python. JMLR 12.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30734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734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Flutter Documentation. Google. flutter.dev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1402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1400" y="41402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Firebase Documentation (Authentication, Firestore, Cloud Messaging). Google.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1402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402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OpenStreetMap Contributors. openstreetmap.org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52070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" y="52070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Espressif Systems. ESP32 Technical Reference Manual.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0" y="5207000"/>
            <a:ext cx="25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>
                <a:solidFill>
                  <a:srgbClr val="AD90DF"/>
                </a:solidFill>
                <a:latin typeface="Sora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207000"/>
            <a:ext cx="49911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0">
                <a:solidFill>
                  <a:srgbClr val="6E5494"/>
                </a:solidFill>
                <a:latin typeface="Inter"/>
              </a:rPr>
              <a:t>fl_chart &amp; flutter_map - Flutter community packages. pub.dev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08500" y="1587500"/>
            <a:ext cx="3175000" cy="3175000"/>
          </a:xfrm>
          <a:prstGeom prst="ellipse">
            <a:avLst/>
          </a:prstGeom>
          <a:noFill/>
          <a:ln w="17780">
            <a:solidFill>
              <a:srgbClr val="AD90D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92500" y="571500"/>
            <a:ext cx="5207000" cy="5207000"/>
          </a:xfrm>
          <a:prstGeom prst="ellipse">
            <a:avLst/>
          </a:prstGeom>
          <a:noFill/>
          <a:ln w="17780">
            <a:solidFill>
              <a:srgbClr val="AD90DF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13000" y="-508000"/>
            <a:ext cx="7366000" cy="7366000"/>
          </a:xfrm>
          <a:prstGeom prst="ellipse">
            <a:avLst/>
          </a:prstGeom>
          <a:noFill/>
          <a:ln w="17780">
            <a:solidFill>
              <a:srgbClr val="AD90DF">
                <a:alpha val="7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6500" y="-1714500"/>
            <a:ext cx="9779000" cy="9779000"/>
          </a:xfrm>
          <a:prstGeom prst="ellipse">
            <a:avLst/>
          </a:prstGeom>
          <a:noFill/>
          <a:ln w="17780">
            <a:solidFill>
              <a:srgbClr val="AD90DF">
                <a:alpha val="4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0520000">
            <a:off x="2540000" y="1778000"/>
            <a:ext cx="7112000" cy="2794000"/>
          </a:xfrm>
          <a:prstGeom prst="ellipse">
            <a:avLst/>
          </a:prstGeom>
          <a:noFill/>
          <a:ln w="20320">
            <a:solidFill>
              <a:srgbClr val="7C3AED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9700" y="2616200"/>
            <a:ext cx="101600" cy="101600"/>
          </a:xfrm>
          <a:prstGeom prst="ellipse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74200" y="3759200"/>
            <a:ext cx="101600" cy="101600"/>
          </a:xfrm>
          <a:prstGeom prst="ellipse">
            <a:avLst/>
          </a:prstGeom>
          <a:solidFill>
            <a:srgbClr val="AD90D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2019300"/>
            <a:ext cx="1016000" cy="935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3302000"/>
            <a:ext cx="762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400" b="1" spc="-200">
                <a:solidFill>
                  <a:srgbClr val="6D44C9"/>
                </a:solidFill>
                <a:latin typeface="Sor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38600"/>
            <a:ext cx="7620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>
                <a:solidFill>
                  <a:srgbClr val="6E5494"/>
                </a:solidFill>
                <a:latin typeface="Inter"/>
              </a:rPr>
              <a:t>Questions &amp; Discussion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1000" y="4597400"/>
            <a:ext cx="3810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86000" y="47752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9E86C0"/>
                </a:solidFill>
                <a:latin typeface="Inter"/>
              </a:rPr>
              <a:t>AEGIS · Adaptive Edge-Intelligence Guardian and Safety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0292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9E86C0"/>
                </a:solidFill>
                <a:latin typeface="Inter"/>
              </a:rPr>
              <a:t>Barira Sarfraz · Nabeeha Zahid    |    Supervisor: Dr. Altaf Hussain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